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65" r:id="rId3"/>
    <p:sldId id="262" r:id="rId4"/>
    <p:sldId id="263" r:id="rId5"/>
    <p:sldId id="264" r:id="rId6"/>
    <p:sldId id="266" r:id="rId7"/>
    <p:sldId id="268" r:id="rId8"/>
    <p:sldId id="267" r:id="rId9"/>
    <p:sldId id="269" r:id="rId10"/>
    <p:sldId id="270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2" r:id="rId20"/>
    <p:sldId id="283" r:id="rId21"/>
    <p:sldId id="284" r:id="rId22"/>
    <p:sldId id="285" r:id="rId23"/>
    <p:sldId id="286" r:id="rId24"/>
    <p:sldId id="288" r:id="rId25"/>
    <p:sldId id="271" r:id="rId26"/>
    <p:sldId id="287" r:id="rId27"/>
    <p:sldId id="289" r:id="rId28"/>
    <p:sldId id="281" r:id="rId29"/>
    <p:sldId id="290" r:id="rId30"/>
    <p:sldId id="291" r:id="rId31"/>
    <p:sldId id="292" r:id="rId32"/>
    <p:sldId id="293" r:id="rId33"/>
    <p:sldId id="295" r:id="rId34"/>
    <p:sldId id="296" r:id="rId35"/>
    <p:sldId id="297" r:id="rId36"/>
    <p:sldId id="294" r:id="rId37"/>
    <p:sldId id="298" r:id="rId38"/>
    <p:sldId id="299" r:id="rId39"/>
    <p:sldId id="300" r:id="rId40"/>
    <p:sldId id="301" r:id="rId41"/>
    <p:sldId id="302" r:id="rId42"/>
    <p:sldId id="305" r:id="rId43"/>
    <p:sldId id="303" r:id="rId44"/>
    <p:sldId id="304" r:id="rId4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000"/>
    <a:srgbClr val="F8FC64"/>
    <a:srgbClr val="00359E"/>
    <a:srgbClr val="2DC142"/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0" autoAdjust="0"/>
  </p:normalViewPr>
  <p:slideViewPr>
    <p:cSldViewPr snapToGrid="0">
      <p:cViewPr>
        <p:scale>
          <a:sx n="100" d="100"/>
          <a:sy n="100" d="100"/>
        </p:scale>
        <p:origin x="990" y="20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F6831B-53AC-407E-8845-DBC678615E3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EE15A-B49A-4F6E-8FF5-732926043DF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809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BE4A-DA59-9909-A8C8-CBD7C175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B3F36-F712-ED05-FD87-652D293AA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FE04C-4A65-AAD6-4F56-1006CD940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1D0F5-8DB3-4CC3-159E-1F2DA74D0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2929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613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7F57-AFB9-0D9D-913B-E1CD74EB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03D96-B9FF-B07D-2024-42C88A34F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98693-34AE-EF17-8EAF-59FE5A287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01429-8A9D-138A-5127-AC33404A8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369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5CFD-E73F-361B-D2A8-2244EBAA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FB679-2D3C-CC34-1B73-8B3DF6FA5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D9C77-1260-EB88-C9D9-26739C9BC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2C510-967A-489C-BFE5-64473E6B7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0815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6195-5CD0-FE3D-3091-832A3E17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98357-9F08-C1ED-78A3-24F4C996D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F2668-420A-B7D8-257A-84DAF6AEF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C07BA-5C71-BC95-1C77-27D5D3E92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7065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82F3-7853-DFCB-7631-F9E8495B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6C33E-1E8B-585A-D65E-4C412D5A7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6F8AC-AF84-7FD9-6680-BD94A9AB8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E3868-610E-08E5-5B9B-03355D82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021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9048-8B1C-7D14-6E39-0BAD9543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78855-D5AC-BA55-D0CE-A2B2B83DA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7D9A2-5204-9285-769F-D1DCD0F6F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A8D86-CBAA-5EDA-5A93-6817E99E5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932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AC8A-03A4-03B0-8A3F-4B84690C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6C424-6DE4-8ADA-2CD3-E9FCD961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36D69-7362-C200-5E5D-A865B42C9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2337D-431E-B8D3-E014-6F1D54209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1333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D6B3-83DD-4328-5A8E-1A3294DE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40040-B4BE-8355-9776-0ABA67717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01BC7-F7EB-1807-16D7-92AE34001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4F478-E443-F8CE-0306-E2E2A0078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6030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E84E3-83CF-08BC-785B-83DA78D5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C2207-C668-F1A4-61F8-25611BC7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D9BA3-6F79-96F7-9B83-741DAE10F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67E10-F5CE-3B7F-993D-6ED10966F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0371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5AB1-3868-A98A-0AC7-BFDEB520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97D4F-30C7-048B-650E-8C1503CAE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69E15-5E6D-9C1D-B840-11AE233F8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C8B1B-04DF-B6C1-72FF-D7B899F08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4341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D726-C739-0107-716C-CFAC768C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22D91-F5C4-9FC0-FDB1-1BF5AA817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751FE-BF58-2847-A918-6C63D48CA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67861-56CF-A6D2-9DBF-CCA786025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8895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BB31-6167-FE9A-5E2A-FA5B4E34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728A2-E433-E6F5-4CEC-111A7267F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015A1-AF0C-5A94-CEF6-650DC4556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50A2E-2BBF-3B2E-89F3-61DA16F93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867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693C2-86F5-C6E8-0452-96814799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5994E-5A67-3917-9931-B65B4CE78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2C10A-2EC0-4D6D-D32D-B2C973399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C21D9-D92E-6601-3C9B-8D3FC7AC5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7900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C103-BA0F-F387-A8CC-E6284BBE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8E1DF-B22E-C559-C06B-D8688A98D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929ED-ABEE-4769-CFA3-3A382BF15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462D-8329-7FEF-E123-D71000A13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597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1901-1C47-5F7B-C5B3-70B4D7B6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15ACE-7E26-D964-E05E-808EF4713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C155E-9D9F-0206-2AC1-5BD06C92A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89CB0-2CF9-8BBF-7BE2-6868916E3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1236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4B87-C5A7-0789-0D56-ED5153BB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C3EF9-4841-90A7-9FE8-50D32E2DD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A41CA-83F6-8B12-4A31-516B80B04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EBEB-87C2-7C16-EB0F-13C1EDBF2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6789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7594-87EA-48FD-7D0E-074271A7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963AD-403D-EA6F-17F7-8B30A8D1B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56359-DD59-D87B-C705-D1FE5733B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0B6A0-0259-40F1-9DA6-781574F16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973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ED22-DBFB-878B-CC95-F8B0B4DC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3916F-F0A4-3658-B8A6-DAB79CC35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6DD4C-956E-3BE2-1E60-25CD42CF7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FFD90-B40A-7F07-49CB-9DAAC2CA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1956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D81A-26BE-6183-CEA1-CC83FB36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C5988-FD9B-411F-9B0C-C6A18D437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5C33D-DF38-FC78-B692-D1151FFC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EC97-FE1A-B9D6-7942-360697332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410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849F-52E4-C1CB-95F8-6BE5A981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CEBB9-9151-A1FC-16C1-98B44A252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CE5C7-DF13-0F24-C447-0600DD34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F02EC-049D-A2D5-C5C2-2BBF926F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7819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7AEEC-1362-D6F9-A02C-EB5CA1F8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8B8ED-BA29-FB41-4110-AA3F8744B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6163D-5AA1-09E1-7F90-54AD96EA1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932D-2F5A-0706-B178-3E338900B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9952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3636-7F2D-A0DE-17F3-BA7799A7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57F10-EB0C-8D66-8A5A-53568644E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2EF83-D889-D642-B3DF-C1C8296AE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5C24E-F3B7-828D-3BDB-BC05E194F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391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FE5D3-BFE8-1CC2-E267-A105043B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B70DD-0F5A-FDF2-F453-3F4F152F1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4E20A-894C-2475-B4FB-E371AF82D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9E5C-BA57-D075-15A2-55D9B1394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3332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8B6A-D69D-FDFD-13A7-FFB9939A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1CC05-5994-D050-6A89-3C7699F83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BBDBA-5CC9-DADF-25E5-DD8CC3BA1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C1158-50B5-F449-970C-CDE060DDB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0463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FCE9-4259-9E7F-005D-E8DE962A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5E1C5-0225-8FD4-6F32-B78A93152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70F06-A7C4-8220-6282-9288E0CB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103D-3DFC-643C-5B2E-B9426D722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2132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81C9-9CD1-61E9-77AA-ECF3A303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D4DBC-4F81-3240-86B8-26DC59DB1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59C96-E1F0-EA62-9A90-BB5C17C9A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90E2D-0E5C-AC43-E493-B5DC6A884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7576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C1D3-A64B-872C-1856-33075822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B0E68-59E7-76E7-8360-BC547F53C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13074-7A18-9F4E-32BF-7257F92A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D629E-B889-B728-FFA3-3976EB620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6928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6ACB9-3EA7-94D5-F138-20F4A641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2CE06-D637-95C6-0D6C-51FBC8543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5A928-0632-052F-E186-01299B97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AB03-51F2-770E-ACA5-46BA07708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93797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01A3-89A8-1FA5-5629-65CB1DDB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DE778-FF08-C297-6B8E-E7F8C731E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F462E-0339-DA45-0DC2-E237B129D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417E-7C38-7550-40D4-050892794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3693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4A6B-0E2B-50FC-CFC4-834795C74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5E8CC-97D5-BC98-746F-72148DA2B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E6860-A7B0-7E8C-978C-738F6BFFB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7A42E-D813-F15D-4E5F-325DF4A43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00446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AFBB-2730-BFFB-C098-A677BFB0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210D5-8FB8-62C8-D436-C52AF996A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32137-06EA-0373-3AE3-6B22F91AA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9A0E8-4F42-0C77-E9D9-8D9545450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15453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0D27-360C-DC45-C552-CABDA862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9E8E9-CF0D-E8C7-248D-CAD6B0491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A5265-8326-07A2-98E3-CD531EA15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BADBE-7910-01E7-68EA-2E1ECBDEB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7394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3D33-7DB7-168A-340A-2AA716D4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6B162-B089-5E31-9002-1D42D1673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2FF5A-0BA6-EB2C-F5A4-45F781041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B20F-4E86-812E-B63E-4A6E1073A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61639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1B16-8500-E6C4-439D-A4EBACA4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4F5FF-7F3F-AB4A-5496-55D6C023D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9AFC4-B89B-36AC-51B1-47973E91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227EF-C72D-581F-51FF-DFB33EDD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57896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0ADA9-F4FB-0863-2654-0A408AD6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7DB4E-6397-3C86-962D-2F2B5EA6F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A5C67-97E5-62A3-3C8E-9FA2FCCE5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6F309-70F2-44C3-C71E-0DBE06302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4371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C630-F63F-A9D0-09DE-57ED2A43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D1A14-BF55-EA37-4DF4-4A2FB237B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A656-025B-7A29-0596-FABE43953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2EFF0-88AE-22B8-A115-F08DFE78C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123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6BAF-2B15-F461-8CB2-9ADF1D86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6440E-7CE2-82A3-1A6C-30BE38D83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D56D4-5DE5-7639-D215-FA56645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98F9F-F6CE-2196-23B4-EBB63D106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87580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CEDD-8934-7B81-5B82-37AFE92F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61F5F-894C-54DD-B894-453F0ECF4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D9B3E-83CC-9D00-C0B6-47A99B451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3B74-58DA-F945-9DCC-8A96BFA41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09582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E7F2-DC7D-909C-1A58-9AF1897C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2D625-5873-9F29-7C31-F818FAF13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05034-376B-0B20-E69B-8C4736FF8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F067-5D3A-D68D-B1DF-0760D726B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07123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8F1E-0CB2-0EEF-CE5D-C8E0CE0D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9432E-BCE6-CED2-AF90-9FEF29788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F1AFA-5605-4F2F-4450-40BCC73F1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FE6A5-8D07-A6CE-CD64-2857A190B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723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5641-20BE-ECDB-107B-BF1C0277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7CF32-167D-1FC3-226C-0F2557680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B3BC5-589E-9445-4B50-4AB472FB7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482F6-93AB-8C29-C540-6E16094E6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66529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1320-9D63-F9F1-E9CD-AF49A003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F8B3F-9E59-3535-CA1E-9C6EF97EE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805B0-760F-731C-B8DE-E91277875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B01D9-5F24-4546-006E-AFD57972F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EE15A-B49A-4F6E-8FF5-732926043DFE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6734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F99F-5915-F679-B6EA-7F7ED3975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66DC0-63A6-708B-A8B0-DF34D7301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B276F-B824-4099-6B44-BD459DF8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BD8F-DF06-A9B2-DBD9-920B48F5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78AD-772C-3609-ED47-13BFAB14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976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77CE-0726-5473-90D8-855BA24D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AAE0-4E2A-B890-6471-A63DFEF65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4AF19-1386-6465-C380-B783DF09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424A7-B386-1069-EBE5-005DAA6D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A9359-807D-8188-8E89-EA63AA76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208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9B54-09A0-4580-46C1-64FA9D83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ECAF-4B7B-B468-0415-C4A8A2BCD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07B4-DC06-CBBC-6035-7678060E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F2A98-F3F2-701C-EFD3-38A41921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92D35-36D2-47FA-CE6C-551E2245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901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7C3C-7727-44FA-3A9F-A04A1C0F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02B9-8CC1-1533-91D7-4B75D60FA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7862D-EE73-DC52-94F2-4FADC87DF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099B2-1FB8-C4F0-7977-AB9BF0E3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16F59-CC61-C092-0EA7-C6FFFD21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BBF49-B635-5594-D9C0-9726E382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5841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AB3C-5A3A-3C1F-C362-8145380B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05B03-4036-8DA8-C276-E4953AB70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3A7FB-242A-85BD-3C02-4F27F8E05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E5EAD-1B1C-DB80-AA88-421F84B4B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93F80-FC30-8FE3-1226-F688DFB2F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041E9-F6C5-2150-D07C-F8E9D507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89D053-DE74-D5D4-FFBB-0DAFF783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1414B-3583-6497-466C-89C3875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29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DBD3-9C06-BAEE-079A-E2C4393C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C3C2E-9A5C-2249-D73B-6B24D92E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5844E-D413-603C-E6F1-68784293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244F6-2A68-2242-FEB0-87EDB4AC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108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56A55-5A33-5C77-5D32-844BFEED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46082-456D-9A0E-F6E7-90862161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C95E6-8484-FBDF-D2AD-8A627684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717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0BA3-FD5A-EDD1-1451-80303DE5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CD11-9EF3-2012-CDFA-13A43B1E8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9B724-C264-FCAD-6ADB-DD61BAC15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95FDE-D22F-F781-EF34-AE2F71A9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1D694-520C-2A88-C7D9-227E7F58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AB64-B7CA-3776-B6FA-9E956519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740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0216-0968-C65A-ACA3-2983A4CD0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1D462-1AD0-C91A-C75E-CC82C5924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55608-053B-3A0F-149E-56AB3D9BB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46054-2653-9A18-F72B-9AB303EE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6750D-5928-BD12-6D3F-FB8B967A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1B86E-B8CE-ABD8-7105-F93AF88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568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9189-64D5-F67E-A757-7F7C96AA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31ADF-EEE9-F656-2722-FE9707D39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C7E2E-4E37-2116-6D7F-685F3BAC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EAFAF-40E4-6F87-EAB6-B6197ED7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D6DCC-F3ED-76C7-3562-27CE4E03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814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A17D0-17A8-D6C2-ADBA-6B122085E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9665F-8507-9AF4-2739-4C41CED5F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8AC0C-6DD9-AB45-AEEA-F68D18B1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CCFE6-53D7-810A-428D-E1CF436B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1B0FD-C8A9-4795-BAB7-9BFC1253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133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7184D-216F-F624-BF37-00FF6E48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CAE73-4358-F1EC-5ED5-595CB3297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75BE4-E51A-1402-9AA0-661699998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2A0FE-2AC6-481C-98E6-168C04B7EF4E}" type="datetimeFigureOut">
              <a:rPr lang="LID4096" smtClean="0"/>
              <a:t>04/27/2026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D49A-61AB-894A-05D1-AFEB9747E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B618-3270-8E8F-98D4-5B71ABD97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0B1D5-A75A-4F0B-BAE0-F3365F377B7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714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.png"/><Relationship Id="rId7" Type="http://schemas.openxmlformats.org/officeDocument/2006/relationships/image" Target="../media/image230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0.png"/><Relationship Id="rId5" Type="http://schemas.openxmlformats.org/officeDocument/2006/relationships/image" Target="../media/image31.png"/><Relationship Id="rId10" Type="http://schemas.openxmlformats.org/officeDocument/2006/relationships/image" Target="../media/image260.png"/><Relationship Id="rId4" Type="http://schemas.openxmlformats.org/officeDocument/2006/relationships/image" Target="../media/image20.png"/><Relationship Id="rId9" Type="http://schemas.openxmlformats.org/officeDocument/2006/relationships/image" Target="../media/image2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UI masuk dalam jajaran Top 10 universitas terbaik Asia Tenggara - ANTARA  News Megapolitan">
            <a:extLst>
              <a:ext uri="{FF2B5EF4-FFF2-40B4-BE49-F238E27FC236}">
                <a16:creationId xmlns:a16="http://schemas.microsoft.com/office/drawing/2014/main" id="{00FC00B2-3C2A-080F-72FD-391E8B217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0" y="0"/>
            <a:ext cx="1216041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D5F3E4-CD5D-01CA-FDD1-145ECB53AF88}"/>
              </a:ext>
            </a:extLst>
          </p:cNvPr>
          <p:cNvSpPr/>
          <p:nvPr/>
        </p:nvSpPr>
        <p:spPr>
          <a:xfrm>
            <a:off x="-15392" y="4781551"/>
            <a:ext cx="12192000" cy="2076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036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0CA5C2A8-2C65-AC0F-4806-E72EA5412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06EEF21-A976-7EA4-186B-138428EEA3E9}"/>
              </a:ext>
            </a:extLst>
          </p:cNvPr>
          <p:cNvSpPr/>
          <p:nvPr/>
        </p:nvSpPr>
        <p:spPr>
          <a:xfrm>
            <a:off x="707503" y="1830924"/>
            <a:ext cx="1077698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 EKSPLORASI PADA PERMAINAN MINESWEEPER MENGGUNAKAN METODE CRITIC AS EXPLORER (CAE) DALAM KERANGKA DEEP Q-NETWORK (DQN)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8F8722-B311-E495-8D9E-86F1DAFCFA03}"/>
              </a:ext>
            </a:extLst>
          </p:cNvPr>
          <p:cNvCxnSpPr>
            <a:cxnSpLocks/>
          </p:cNvCxnSpPr>
          <p:nvPr/>
        </p:nvCxnSpPr>
        <p:spPr>
          <a:xfrm>
            <a:off x="288234" y="1053962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B820DB0-E398-0BB5-E14E-5A78C0E1EAEE}"/>
              </a:ext>
            </a:extLst>
          </p:cNvPr>
          <p:cNvGrpSpPr/>
          <p:nvPr/>
        </p:nvGrpSpPr>
        <p:grpSpPr>
          <a:xfrm>
            <a:off x="4763735" y="4838698"/>
            <a:ext cx="2664519" cy="369332"/>
            <a:chOff x="164180" y="5294521"/>
            <a:chExt cx="2664519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0BD9D6-795B-01E5-F2F6-540338242972}"/>
                </a:ext>
              </a:extLst>
            </p:cNvPr>
            <p:cNvSpPr txBox="1"/>
            <p:nvPr/>
          </p:nvSpPr>
          <p:spPr>
            <a:xfrm>
              <a:off x="269180" y="5294521"/>
              <a:ext cx="245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359E"/>
                  </a:solidFill>
                </a:rPr>
                <a:t>Universitas Indonesia</a:t>
              </a:r>
              <a:endParaRPr lang="LID4096" b="1" dirty="0">
                <a:solidFill>
                  <a:srgbClr val="00359E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9B9C89-9603-3648-AAA9-C4DEBBCD664C}"/>
                </a:ext>
              </a:extLst>
            </p:cNvPr>
            <p:cNvCxnSpPr>
              <a:cxnSpLocks/>
            </p:cNvCxnSpPr>
            <p:nvPr/>
          </p:nvCxnSpPr>
          <p:spPr>
            <a:xfrm>
              <a:off x="164180" y="5663853"/>
              <a:ext cx="2664519" cy="0"/>
            </a:xfrm>
            <a:prstGeom prst="line">
              <a:avLst/>
            </a:prstGeom>
            <a:ln w="28575">
              <a:solidFill>
                <a:srgbClr val="00359E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05DC1DF-8240-E48D-77F9-654D393F700C}"/>
              </a:ext>
            </a:extLst>
          </p:cNvPr>
          <p:cNvSpPr txBox="1"/>
          <p:nvPr/>
        </p:nvSpPr>
        <p:spPr>
          <a:xfrm>
            <a:off x="522237" y="5383573"/>
            <a:ext cx="337821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Dosen </a:t>
            </a:r>
            <a:r>
              <a:rPr lang="en-US" b="1" dirty="0" err="1"/>
              <a:t>Pembimbing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ID" dirty="0"/>
              <a:t>Muhammad Firdaus </a:t>
            </a:r>
            <a:r>
              <a:rPr lang="en-ID" dirty="0" err="1"/>
              <a:t>Syawaludin</a:t>
            </a:r>
            <a:r>
              <a:rPr lang="en-ID" dirty="0"/>
              <a:t> Lubis, S.T., M.T., Ph.D.</a:t>
            </a:r>
            <a:endParaRPr lang="LID4096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6A878-9714-0E7F-1D8C-2D0F35F5A386}"/>
              </a:ext>
            </a:extLst>
          </p:cNvPr>
          <p:cNvSpPr txBox="1"/>
          <p:nvPr/>
        </p:nvSpPr>
        <p:spPr>
          <a:xfrm>
            <a:off x="4406894" y="5383573"/>
            <a:ext cx="337821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Dosen </a:t>
            </a:r>
            <a:r>
              <a:rPr lang="en-US" b="1" dirty="0" err="1"/>
              <a:t>Penguji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ID" dirty="0"/>
              <a:t>Yan </a:t>
            </a:r>
            <a:r>
              <a:rPr lang="en-ID" dirty="0" err="1"/>
              <a:t>Maraden</a:t>
            </a:r>
            <a:r>
              <a:rPr lang="en-ID" dirty="0"/>
              <a:t>, S.T., M.T., M.Sc.</a:t>
            </a:r>
          </a:p>
          <a:p>
            <a:pPr>
              <a:lnSpc>
                <a:spcPct val="150000"/>
              </a:lnSpc>
            </a:pPr>
            <a:r>
              <a:rPr lang="en-ID" dirty="0"/>
              <a:t>Alfan Prasekal, S.T., M.Sc., Ph.D.</a:t>
            </a:r>
            <a:endParaRPr lang="LID4096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400DA5-2000-B289-054C-A59F05919422}"/>
              </a:ext>
            </a:extLst>
          </p:cNvPr>
          <p:cNvSpPr txBox="1"/>
          <p:nvPr/>
        </p:nvSpPr>
        <p:spPr>
          <a:xfrm>
            <a:off x="8291551" y="5383573"/>
            <a:ext cx="337821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 err="1"/>
              <a:t>Penulis</a:t>
            </a:r>
            <a:endParaRPr lang="en-US" b="1" dirty="0"/>
          </a:p>
          <a:p>
            <a:pPr algn="r">
              <a:lnSpc>
                <a:spcPct val="150000"/>
              </a:lnSpc>
            </a:pPr>
            <a:r>
              <a:rPr lang="en-US" dirty="0"/>
              <a:t>Yoel Dwi Miryano</a:t>
            </a:r>
          </a:p>
          <a:p>
            <a:pPr algn="r">
              <a:lnSpc>
                <a:spcPct val="150000"/>
              </a:lnSpc>
            </a:pPr>
            <a:r>
              <a:rPr lang="en-US" dirty="0"/>
              <a:t>Teknik </a:t>
            </a:r>
            <a:r>
              <a:rPr lang="en-US" dirty="0" err="1"/>
              <a:t>Komputer</a:t>
            </a:r>
            <a:r>
              <a:rPr lang="en-US" dirty="0"/>
              <a:t> (2206059534)</a:t>
            </a:r>
            <a:endParaRPr lang="LID4096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5F60A5-A27C-85DB-BC19-9531855B00D5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9F88A4-575F-A9CB-089A-5E84992ACA1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32C619-1A02-F539-D10A-4A3160DD4EB0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29 April 2026</a:t>
            </a:r>
            <a:endParaRPr lang="en-US" sz="2800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47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421B-FA0F-7F0F-EE0A-B3DE7445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11BD66-8007-2841-C9D6-9486BFADF89D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E8C0C9-81F5-6975-C339-3C8E89DC13DD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E20B92-C3C0-A8D7-3EAC-7C4FD4A82C5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3C97CB-5D6E-5BCC-BF67-A78D06875BBF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DAFTAR ISI</a:t>
            </a:r>
            <a:endParaRPr lang="en-US" sz="2800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968274D-BD1F-5FFA-1774-1803DDD70262}"/>
              </a:ext>
            </a:extLst>
          </p:cNvPr>
          <p:cNvGrpSpPr/>
          <p:nvPr/>
        </p:nvGrpSpPr>
        <p:grpSpPr>
          <a:xfrm>
            <a:off x="3251052" y="2024480"/>
            <a:ext cx="5689885" cy="2809039"/>
            <a:chOff x="3364445" y="2104443"/>
            <a:chExt cx="5689885" cy="280903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D8D15D-4AA2-CB06-582A-F66C053F36E8}"/>
                </a:ext>
              </a:extLst>
            </p:cNvPr>
            <p:cNvSpPr txBox="1"/>
            <p:nvPr/>
          </p:nvSpPr>
          <p:spPr>
            <a:xfrm>
              <a:off x="3711585" y="2104443"/>
              <a:ext cx="5342745" cy="2809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chemeClr val="bg1"/>
                  </a:solidFill>
                </a:rPr>
                <a:t>Pendahuluan</a:t>
              </a:r>
              <a:endParaRPr lang="en-US" sz="2400" dirty="0">
                <a:solidFill>
                  <a:schemeClr val="bg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chemeClr val="bg1"/>
                  </a:solidFill>
                </a:rPr>
                <a:t>Tinjauan</a:t>
              </a:r>
              <a:r>
                <a:rPr lang="en-US" sz="2400" dirty="0">
                  <a:solidFill>
                    <a:schemeClr val="bg1"/>
                  </a:solidFill>
                </a:rPr>
                <a:t> Pustaka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chemeClr val="bg1"/>
                  </a:solidFill>
                </a:rPr>
                <a:t>Perancangan</a:t>
              </a:r>
              <a:r>
                <a:rPr lang="en-US" sz="2400" dirty="0">
                  <a:solidFill>
                    <a:schemeClr val="bg1"/>
                  </a:solidFill>
                </a:rPr>
                <a:t> &amp; </a:t>
              </a:r>
              <a:r>
                <a:rPr lang="en-US" sz="2400" dirty="0" err="1">
                  <a:solidFill>
                    <a:schemeClr val="bg1"/>
                  </a:solidFill>
                </a:rPr>
                <a:t>Implementasi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Sistem</a:t>
              </a:r>
              <a:endParaRPr lang="en-US" sz="2400" dirty="0">
                <a:solidFill>
                  <a:schemeClr val="bg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chemeClr val="bg1"/>
                  </a:solidFill>
                </a:rPr>
                <a:t>Eksperimen</a:t>
              </a:r>
              <a:r>
                <a:rPr lang="en-US" sz="2400" dirty="0">
                  <a:solidFill>
                    <a:schemeClr val="bg1"/>
                  </a:solidFill>
                </a:rPr>
                <a:t> &amp; </a:t>
              </a:r>
              <a:r>
                <a:rPr lang="en-US" sz="2400" dirty="0" err="1">
                  <a:solidFill>
                    <a:schemeClr val="bg1"/>
                  </a:solidFill>
                </a:rPr>
                <a:t>Analisis</a:t>
              </a:r>
              <a:endParaRPr lang="en-US" sz="2400" dirty="0">
                <a:solidFill>
                  <a:schemeClr val="bg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chemeClr val="bg1"/>
                  </a:solidFill>
                </a:rPr>
                <a:t>Penutup</a:t>
              </a:r>
              <a:endParaRPr lang="LID4096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F9FAD16-59EC-0A62-22DC-A9CAB742ABE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445" y="2628900"/>
              <a:ext cx="0" cy="1931132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A0713-A896-F67B-3434-F19A3C4686A7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351121F1-FD3F-93D2-E6D9-6475D1A1D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1966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8132-8EDD-7365-C6E9-A9F54D2B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A4001A-C519-B170-EBFF-4533DA7083B3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CF1F81-6DDF-7B8B-ACF1-B4444CC1562B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294267A-31B1-BA26-6159-88DB41ECAE3F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22B2E1-9D98-28F5-27CB-DC6526A79EA2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87484-0B4E-BF87-55F3-3986FBB93E6F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Executive Summary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0BA101C0-5EA1-88E6-A020-AA8FAA416CDA}"/>
              </a:ext>
            </a:extLst>
          </p:cNvPr>
          <p:cNvGrpSpPr/>
          <p:nvPr/>
        </p:nvGrpSpPr>
        <p:grpSpPr>
          <a:xfrm>
            <a:off x="-926702" y="1823041"/>
            <a:ext cx="3981450" cy="4152891"/>
            <a:chOff x="-1133479" y="1724031"/>
            <a:chExt cx="3981450" cy="4152891"/>
          </a:xfrm>
          <a:solidFill>
            <a:srgbClr val="00359E"/>
          </a:solidFill>
        </p:grpSpPr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55D84905-9CAC-3B44-B4FC-4C86913FFBEC}"/>
                </a:ext>
              </a:extLst>
            </p:cNvPr>
            <p:cNvSpPr/>
            <p:nvPr/>
          </p:nvSpPr>
          <p:spPr>
            <a:xfrm>
              <a:off x="-1133479" y="1798224"/>
              <a:ext cx="3981450" cy="3981450"/>
            </a:xfrm>
            <a:prstGeom prst="ellipse">
              <a:avLst/>
            </a:prstGeom>
            <a:grpFill/>
            <a:ln w="28575">
              <a:solidFill>
                <a:srgbClr val="FFFF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4255A54B-1E9B-1A1B-798D-E074D2157EF7}"/>
                </a:ext>
              </a:extLst>
            </p:cNvPr>
            <p:cNvSpPr/>
            <p:nvPr/>
          </p:nvSpPr>
          <p:spPr>
            <a:xfrm>
              <a:off x="-1133479" y="1724031"/>
              <a:ext cx="2638429" cy="41528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D2C8DE4B-3E81-A2A8-806E-7AAD54F9BA52}"/>
              </a:ext>
            </a:extLst>
          </p:cNvPr>
          <p:cNvGrpSpPr/>
          <p:nvPr/>
        </p:nvGrpSpPr>
        <p:grpSpPr>
          <a:xfrm>
            <a:off x="2071320" y="2124906"/>
            <a:ext cx="1917096" cy="481021"/>
            <a:chOff x="4283602" y="2300943"/>
            <a:chExt cx="1917096" cy="481021"/>
          </a:xfrm>
        </p:grpSpPr>
        <p:grpSp>
          <p:nvGrpSpPr>
            <p:cNvPr id="1076" name="Group 16">
              <a:extLst>
                <a:ext uri="{FF2B5EF4-FFF2-40B4-BE49-F238E27FC236}">
                  <a16:creationId xmlns:a16="http://schemas.microsoft.com/office/drawing/2014/main" id="{C5C806BB-99EB-D77B-7CF1-691950502815}"/>
                </a:ext>
              </a:extLst>
            </p:cNvPr>
            <p:cNvGrpSpPr/>
            <p:nvPr/>
          </p:nvGrpSpPr>
          <p:grpSpPr>
            <a:xfrm>
              <a:off x="4283602" y="2300943"/>
              <a:ext cx="481020" cy="481021"/>
              <a:chOff x="76200" y="0"/>
              <a:chExt cx="736598" cy="736600"/>
            </a:xfrm>
          </p:grpSpPr>
          <p:sp>
            <p:nvSpPr>
              <p:cNvPr id="1077" name="Freeform 17">
                <a:extLst>
                  <a:ext uri="{FF2B5EF4-FFF2-40B4-BE49-F238E27FC236}">
                    <a16:creationId xmlns:a16="http://schemas.microsoft.com/office/drawing/2014/main" id="{3BF32320-BEAE-2D5A-257E-09176AD3B9C5}"/>
                  </a:ext>
                </a:extLst>
              </p:cNvPr>
              <p:cNvSpPr/>
              <p:nvPr/>
            </p:nvSpPr>
            <p:spPr>
              <a:xfrm>
                <a:off x="114298" y="0"/>
                <a:ext cx="6985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2"/>
              </a:solidFill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1078" name="TextBox 18">
                <a:extLst>
                  <a:ext uri="{FF2B5EF4-FFF2-40B4-BE49-F238E27FC236}">
                    <a16:creationId xmlns:a16="http://schemas.microsoft.com/office/drawing/2014/main" id="{B21E775C-0867-059B-1465-C1324A391EF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79" name="AutoShape 50">
              <a:extLst>
                <a:ext uri="{FF2B5EF4-FFF2-40B4-BE49-F238E27FC236}">
                  <a16:creationId xmlns:a16="http://schemas.microsoft.com/office/drawing/2014/main" id="{6AB7576D-F3E2-D5F6-1744-5BB74ACA53CA}"/>
                </a:ext>
              </a:extLst>
            </p:cNvPr>
            <p:cNvSpPr/>
            <p:nvPr/>
          </p:nvSpPr>
          <p:spPr>
            <a:xfrm>
              <a:off x="4714862" y="2520215"/>
              <a:ext cx="1485836" cy="0"/>
            </a:xfrm>
            <a:prstGeom prst="line">
              <a:avLst/>
            </a:prstGeom>
            <a:ln w="28575">
              <a:solidFill>
                <a:schemeClr val="bg2"/>
              </a:solidFill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/>
            <a:lstStyle/>
            <a:p>
              <a:endParaRPr lang="LID4096" dirty="0"/>
            </a:p>
          </p:txBody>
        </p:sp>
      </p:grp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9E280ACA-4986-E49D-0A32-56A1F440CE53}"/>
              </a:ext>
            </a:extLst>
          </p:cNvPr>
          <p:cNvGrpSpPr/>
          <p:nvPr/>
        </p:nvGrpSpPr>
        <p:grpSpPr>
          <a:xfrm>
            <a:off x="2778551" y="3658977"/>
            <a:ext cx="1917096" cy="481021"/>
            <a:chOff x="4283602" y="2300943"/>
            <a:chExt cx="1917096" cy="481021"/>
          </a:xfrm>
        </p:grpSpPr>
        <p:grpSp>
          <p:nvGrpSpPr>
            <p:cNvPr id="1082" name="Group 16">
              <a:extLst>
                <a:ext uri="{FF2B5EF4-FFF2-40B4-BE49-F238E27FC236}">
                  <a16:creationId xmlns:a16="http://schemas.microsoft.com/office/drawing/2014/main" id="{BEB28B26-43D2-8191-0FF5-1F942E8DFDEC}"/>
                </a:ext>
              </a:extLst>
            </p:cNvPr>
            <p:cNvGrpSpPr/>
            <p:nvPr/>
          </p:nvGrpSpPr>
          <p:grpSpPr>
            <a:xfrm>
              <a:off x="4283602" y="2300943"/>
              <a:ext cx="481020" cy="481021"/>
              <a:chOff x="76200" y="0"/>
              <a:chExt cx="736598" cy="736600"/>
            </a:xfrm>
          </p:grpSpPr>
          <p:sp>
            <p:nvSpPr>
              <p:cNvPr id="1084" name="Freeform 17">
                <a:extLst>
                  <a:ext uri="{FF2B5EF4-FFF2-40B4-BE49-F238E27FC236}">
                    <a16:creationId xmlns:a16="http://schemas.microsoft.com/office/drawing/2014/main" id="{B4CB83EF-D49C-5F20-76E5-776A4A9ECB4F}"/>
                  </a:ext>
                </a:extLst>
              </p:cNvPr>
              <p:cNvSpPr/>
              <p:nvPr/>
            </p:nvSpPr>
            <p:spPr>
              <a:xfrm>
                <a:off x="114298" y="0"/>
                <a:ext cx="6985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2"/>
              </a:solidFill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1085" name="TextBox 18">
                <a:extLst>
                  <a:ext uri="{FF2B5EF4-FFF2-40B4-BE49-F238E27FC236}">
                    <a16:creationId xmlns:a16="http://schemas.microsoft.com/office/drawing/2014/main" id="{FC7C1D4C-50EA-4DD5-2C48-7842808AB03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83" name="AutoShape 50">
              <a:extLst>
                <a:ext uri="{FF2B5EF4-FFF2-40B4-BE49-F238E27FC236}">
                  <a16:creationId xmlns:a16="http://schemas.microsoft.com/office/drawing/2014/main" id="{3554A741-F601-9609-02E5-811213ADB9C8}"/>
                </a:ext>
              </a:extLst>
            </p:cNvPr>
            <p:cNvSpPr/>
            <p:nvPr/>
          </p:nvSpPr>
          <p:spPr>
            <a:xfrm>
              <a:off x="4714862" y="2520215"/>
              <a:ext cx="1485836" cy="0"/>
            </a:xfrm>
            <a:prstGeom prst="line">
              <a:avLst/>
            </a:prstGeom>
            <a:solidFill>
              <a:srgbClr val="7E0000"/>
            </a:solidFill>
            <a:ln w="28575">
              <a:solidFill>
                <a:schemeClr val="bg2"/>
              </a:solidFill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/>
            <a:lstStyle/>
            <a:p>
              <a:endParaRPr lang="LID4096" dirty="0"/>
            </a:p>
          </p:txBody>
        </p: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F2BAFD44-E5E4-F6C9-F403-AF9A410172EB}"/>
              </a:ext>
            </a:extLst>
          </p:cNvPr>
          <p:cNvGrpSpPr/>
          <p:nvPr/>
        </p:nvGrpSpPr>
        <p:grpSpPr>
          <a:xfrm>
            <a:off x="2096199" y="5162518"/>
            <a:ext cx="1917096" cy="481021"/>
            <a:chOff x="4283602" y="2300943"/>
            <a:chExt cx="1917096" cy="481021"/>
          </a:xfrm>
        </p:grpSpPr>
        <p:grpSp>
          <p:nvGrpSpPr>
            <p:cNvPr id="1087" name="Group 16">
              <a:extLst>
                <a:ext uri="{FF2B5EF4-FFF2-40B4-BE49-F238E27FC236}">
                  <a16:creationId xmlns:a16="http://schemas.microsoft.com/office/drawing/2014/main" id="{8C8F4433-8D38-36DA-9433-5D32E5CD9F8F}"/>
                </a:ext>
              </a:extLst>
            </p:cNvPr>
            <p:cNvGrpSpPr/>
            <p:nvPr/>
          </p:nvGrpSpPr>
          <p:grpSpPr>
            <a:xfrm>
              <a:off x="4283602" y="2300943"/>
              <a:ext cx="481020" cy="481021"/>
              <a:chOff x="76200" y="0"/>
              <a:chExt cx="736598" cy="736600"/>
            </a:xfrm>
          </p:grpSpPr>
          <p:sp>
            <p:nvSpPr>
              <p:cNvPr id="1089" name="Freeform 17">
                <a:extLst>
                  <a:ext uri="{FF2B5EF4-FFF2-40B4-BE49-F238E27FC236}">
                    <a16:creationId xmlns:a16="http://schemas.microsoft.com/office/drawing/2014/main" id="{2088C1DC-A3EE-498F-11AE-4D886E91175A}"/>
                  </a:ext>
                </a:extLst>
              </p:cNvPr>
              <p:cNvSpPr/>
              <p:nvPr/>
            </p:nvSpPr>
            <p:spPr>
              <a:xfrm>
                <a:off x="114298" y="0"/>
                <a:ext cx="6985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bg2"/>
              </a:solidFill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1090" name="TextBox 18">
                <a:extLst>
                  <a:ext uri="{FF2B5EF4-FFF2-40B4-BE49-F238E27FC236}">
                    <a16:creationId xmlns:a16="http://schemas.microsoft.com/office/drawing/2014/main" id="{72A771D7-EB02-C3FD-4D91-B8798DBB556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88" name="AutoShape 50">
              <a:extLst>
                <a:ext uri="{FF2B5EF4-FFF2-40B4-BE49-F238E27FC236}">
                  <a16:creationId xmlns:a16="http://schemas.microsoft.com/office/drawing/2014/main" id="{2AC10404-228E-E520-DB45-39C0ADBCBEB4}"/>
                </a:ext>
              </a:extLst>
            </p:cNvPr>
            <p:cNvSpPr/>
            <p:nvPr/>
          </p:nvSpPr>
          <p:spPr>
            <a:xfrm>
              <a:off x="4714862" y="2520215"/>
              <a:ext cx="1485836" cy="0"/>
            </a:xfrm>
            <a:prstGeom prst="line">
              <a:avLst/>
            </a:prstGeom>
            <a:ln w="28575">
              <a:solidFill>
                <a:schemeClr val="bg2"/>
              </a:solidFill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/>
            <a:lstStyle/>
            <a:p>
              <a:endParaRPr lang="LID4096" dirty="0"/>
            </a:p>
          </p:txBody>
        </p:sp>
      </p:grpSp>
      <p:sp>
        <p:nvSpPr>
          <p:cNvPr id="1093" name="Oval 1092">
            <a:extLst>
              <a:ext uri="{FF2B5EF4-FFF2-40B4-BE49-F238E27FC236}">
                <a16:creationId xmlns:a16="http://schemas.microsoft.com/office/drawing/2014/main" id="{FC6CD2E2-163A-E7C6-8B85-6D63E24F1381}"/>
              </a:ext>
            </a:extLst>
          </p:cNvPr>
          <p:cNvSpPr/>
          <p:nvPr/>
        </p:nvSpPr>
        <p:spPr>
          <a:xfrm>
            <a:off x="3988416" y="1920291"/>
            <a:ext cx="862984" cy="8629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6CDC08E5-9558-DE24-7540-1F4DE2E17A9D}"/>
              </a:ext>
            </a:extLst>
          </p:cNvPr>
          <p:cNvSpPr/>
          <p:nvPr/>
        </p:nvSpPr>
        <p:spPr>
          <a:xfrm>
            <a:off x="4695647" y="3446757"/>
            <a:ext cx="862984" cy="8629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308E1AF2-C958-4950-83BA-CF8021EBC5BD}"/>
              </a:ext>
            </a:extLst>
          </p:cNvPr>
          <p:cNvSpPr/>
          <p:nvPr/>
        </p:nvSpPr>
        <p:spPr>
          <a:xfrm>
            <a:off x="4013295" y="4950298"/>
            <a:ext cx="862984" cy="8629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6" name="Freeform 43">
            <a:extLst>
              <a:ext uri="{FF2B5EF4-FFF2-40B4-BE49-F238E27FC236}">
                <a16:creationId xmlns:a16="http://schemas.microsoft.com/office/drawing/2014/main" id="{C9ADE39F-21E0-9890-A05B-53C17D9368F9}"/>
              </a:ext>
            </a:extLst>
          </p:cNvPr>
          <p:cNvSpPr/>
          <p:nvPr/>
        </p:nvSpPr>
        <p:spPr>
          <a:xfrm>
            <a:off x="4127465" y="2066095"/>
            <a:ext cx="725953" cy="583416"/>
          </a:xfrm>
          <a:custGeom>
            <a:avLst/>
            <a:gdLst/>
            <a:ahLst/>
            <a:cxnLst/>
            <a:rect l="l" t="t" r="r" b="b"/>
            <a:pathLst>
              <a:path w="1073486" h="862713">
                <a:moveTo>
                  <a:pt x="0" y="0"/>
                </a:moveTo>
                <a:lnTo>
                  <a:pt x="1073486" y="0"/>
                </a:lnTo>
                <a:lnTo>
                  <a:pt x="1073486" y="862712"/>
                </a:lnTo>
                <a:lnTo>
                  <a:pt x="0" y="862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097" name="Freeform 44">
            <a:extLst>
              <a:ext uri="{FF2B5EF4-FFF2-40B4-BE49-F238E27FC236}">
                <a16:creationId xmlns:a16="http://schemas.microsoft.com/office/drawing/2014/main" id="{8D25F061-9285-B646-A554-C4E9FC588E53}"/>
              </a:ext>
            </a:extLst>
          </p:cNvPr>
          <p:cNvSpPr/>
          <p:nvPr/>
        </p:nvSpPr>
        <p:spPr>
          <a:xfrm>
            <a:off x="4876279" y="3565794"/>
            <a:ext cx="546797" cy="624910"/>
          </a:xfrm>
          <a:custGeom>
            <a:avLst/>
            <a:gdLst/>
            <a:ahLst/>
            <a:cxnLst/>
            <a:rect l="l" t="t" r="r" b="b"/>
            <a:pathLst>
              <a:path w="680173" h="777340">
                <a:moveTo>
                  <a:pt x="0" y="0"/>
                </a:moveTo>
                <a:lnTo>
                  <a:pt x="680172" y="0"/>
                </a:lnTo>
                <a:lnTo>
                  <a:pt x="680172" y="777340"/>
                </a:lnTo>
                <a:lnTo>
                  <a:pt x="0" y="777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098" name="Freeform 45">
            <a:extLst>
              <a:ext uri="{FF2B5EF4-FFF2-40B4-BE49-F238E27FC236}">
                <a16:creationId xmlns:a16="http://schemas.microsoft.com/office/drawing/2014/main" id="{4F5C7132-86F2-CD1E-1D60-2D106BA09E50}"/>
              </a:ext>
            </a:extLst>
          </p:cNvPr>
          <p:cNvSpPr/>
          <p:nvPr/>
        </p:nvSpPr>
        <p:spPr>
          <a:xfrm>
            <a:off x="4180806" y="5044776"/>
            <a:ext cx="545321" cy="667988"/>
          </a:xfrm>
          <a:custGeom>
            <a:avLst/>
            <a:gdLst/>
            <a:ahLst/>
            <a:cxnLst/>
            <a:rect l="l" t="t" r="r" b="b"/>
            <a:pathLst>
              <a:path w="757078" h="927378">
                <a:moveTo>
                  <a:pt x="0" y="0"/>
                </a:moveTo>
                <a:lnTo>
                  <a:pt x="757078" y="0"/>
                </a:lnTo>
                <a:lnTo>
                  <a:pt x="757078" y="927378"/>
                </a:lnTo>
                <a:lnTo>
                  <a:pt x="0" y="927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B0B06E9E-FB67-7AF9-D4C4-54679D86B836}"/>
              </a:ext>
            </a:extLst>
          </p:cNvPr>
          <p:cNvSpPr/>
          <p:nvPr/>
        </p:nvSpPr>
        <p:spPr>
          <a:xfrm>
            <a:off x="4990449" y="1877900"/>
            <a:ext cx="5353701" cy="9428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Tujuan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Meningkatkan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sampel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melalui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endParaRPr lang="en-US" sz="1200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75A071AB-97C2-E440-20BF-9656F1276417}"/>
              </a:ext>
            </a:extLst>
          </p:cNvPr>
          <p:cNvSpPr/>
          <p:nvPr/>
        </p:nvSpPr>
        <p:spPr>
          <a:xfrm>
            <a:off x="5739263" y="3406838"/>
            <a:ext cx="5353701" cy="9428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Masalah</a:t>
            </a:r>
            <a:endParaRPr lang="en-US" sz="1400" b="1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l-GR" sz="1200" b="1" i="0" dirty="0">
                <a:solidFill>
                  <a:srgbClr val="F9FAFB"/>
                </a:solidFill>
                <a:effectLst/>
              </a:rPr>
              <a:t>ε‑</a:t>
            </a:r>
            <a:r>
              <a:rPr lang="en-ID" sz="1200" b="1" i="0" dirty="0">
                <a:solidFill>
                  <a:srgbClr val="F9FAFB"/>
                </a:solidFill>
                <a:effectLst/>
              </a:rPr>
              <a:t>greedy </a:t>
            </a:r>
            <a:r>
              <a:rPr lang="en-ID" sz="1200" b="0" i="0" dirty="0" err="1">
                <a:solidFill>
                  <a:srgbClr val="F9FAFB"/>
                </a:solidFill>
                <a:effectLst/>
              </a:rPr>
              <a:t>tidak</a:t>
            </a:r>
            <a:r>
              <a:rPr lang="en-ID" sz="1200" b="0" i="0" dirty="0">
                <a:solidFill>
                  <a:srgbClr val="F9FAFB"/>
                </a:solidFill>
                <a:effectLst/>
              </a:rPr>
              <a:t> </a:t>
            </a:r>
            <a:r>
              <a:rPr lang="en-ID" sz="1200" b="0" i="0" dirty="0" err="1">
                <a:solidFill>
                  <a:srgbClr val="F9FAFB"/>
                </a:solidFill>
                <a:effectLst/>
              </a:rPr>
              <a:t>efisien</a:t>
            </a:r>
            <a:r>
              <a:rPr lang="en-ID" sz="1200" b="0" i="0" dirty="0">
                <a:solidFill>
                  <a:srgbClr val="F9FAFB"/>
                </a:solidFill>
                <a:effectLst/>
              </a:rPr>
              <a:t> pada </a:t>
            </a:r>
            <a:r>
              <a:rPr lang="en-ID" sz="1200" i="1" dirty="0">
                <a:solidFill>
                  <a:srgbClr val="F9FAFB"/>
                </a:solidFill>
              </a:rPr>
              <a:t>environment </a:t>
            </a:r>
            <a:r>
              <a:rPr lang="en-ID" sz="1200" dirty="0" err="1">
                <a:solidFill>
                  <a:srgbClr val="F9FAFB"/>
                </a:solidFill>
              </a:rPr>
              <a:t>dengan</a:t>
            </a:r>
            <a:r>
              <a:rPr lang="en-ID" sz="1200" dirty="0">
                <a:solidFill>
                  <a:srgbClr val="F9FAFB"/>
                </a:solidFill>
              </a:rPr>
              <a:t> </a:t>
            </a:r>
            <a:r>
              <a:rPr lang="en-ID" sz="1200" b="1" dirty="0" err="1">
                <a:solidFill>
                  <a:srgbClr val="F9FAFB"/>
                </a:solidFill>
              </a:rPr>
              <a:t>observasi</a:t>
            </a:r>
            <a:r>
              <a:rPr lang="en-ID" sz="1200" b="1" dirty="0">
                <a:solidFill>
                  <a:srgbClr val="F9FAFB"/>
                </a:solidFill>
              </a:rPr>
              <a:t> </a:t>
            </a:r>
            <a:r>
              <a:rPr lang="en-ID" sz="1200" b="1" dirty="0" err="1">
                <a:solidFill>
                  <a:srgbClr val="F9FAFB"/>
                </a:solidFill>
              </a:rPr>
              <a:t>parsial</a:t>
            </a:r>
            <a:r>
              <a:rPr lang="en-ID" sz="1200" dirty="0">
                <a:solidFill>
                  <a:srgbClr val="F9FAFB"/>
                </a:solidFill>
              </a:rPr>
              <a:t>, </a:t>
            </a:r>
            <a:r>
              <a:rPr lang="en-ID" sz="1200" b="1" dirty="0">
                <a:solidFill>
                  <a:srgbClr val="F9FAFB"/>
                </a:solidFill>
              </a:rPr>
              <a:t>reward </a:t>
            </a:r>
            <a:r>
              <a:rPr lang="en-ID" sz="1200" b="1" dirty="0" err="1">
                <a:solidFill>
                  <a:srgbClr val="F9FAFB"/>
                </a:solidFill>
              </a:rPr>
              <a:t>jarang</a:t>
            </a:r>
            <a:r>
              <a:rPr lang="en-ID" sz="1200" dirty="0">
                <a:solidFill>
                  <a:srgbClr val="F9FAFB"/>
                </a:solidFill>
              </a:rPr>
              <a:t>, dan </a:t>
            </a:r>
            <a:r>
              <a:rPr lang="en-ID" sz="1200" b="1" dirty="0" err="1">
                <a:solidFill>
                  <a:srgbClr val="F9FAFB"/>
                </a:solidFill>
              </a:rPr>
              <a:t>penalti</a:t>
            </a:r>
            <a:r>
              <a:rPr lang="en-ID" sz="1200" b="1" dirty="0">
                <a:solidFill>
                  <a:srgbClr val="F9FAFB"/>
                </a:solidFill>
              </a:rPr>
              <a:t> fatal</a:t>
            </a:r>
            <a:endParaRPr lang="LID4096" sz="1200" b="1" dirty="0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97BBE347-A340-B1BE-9A4E-F943DDD8FCA0}"/>
              </a:ext>
            </a:extLst>
          </p:cNvPr>
          <p:cNvSpPr/>
          <p:nvPr/>
        </p:nvSpPr>
        <p:spPr>
          <a:xfrm>
            <a:off x="5043790" y="4919177"/>
            <a:ext cx="5180864" cy="9428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Solusi</a:t>
            </a:r>
          </a:p>
          <a:p>
            <a:pPr>
              <a:lnSpc>
                <a:spcPct val="150000"/>
              </a:lnSpc>
            </a:pP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Mengintegrasikan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(bonus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UCB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dari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representasi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laten 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critic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kerangka</a:t>
            </a:r>
            <a:r>
              <a:rPr lang="en-US" sz="12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</a:t>
            </a: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F1BEA9B4-2109-E880-98B2-68FA73CC2B8F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6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A278AB8-D4C2-1419-DB67-7BF809861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59864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068B-B8E7-0DB1-C4FF-243C0123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318B2A-721B-8CAC-B377-C1A2309BD47D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4229C4-195E-E735-14BA-5F662FE2BCC2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DFF2CED-B2DD-177C-5DD9-2FA059843AF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9634D-2127-F9BA-E327-3320F76B2D07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9A572F-8F24-258E-DF1A-B582EEA5225B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Latar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Belakang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9F7E87-BB4D-93D4-2351-0BAB852D5A64}"/>
              </a:ext>
            </a:extLst>
          </p:cNvPr>
          <p:cNvSpPr/>
          <p:nvPr/>
        </p:nvSpPr>
        <p:spPr>
          <a:xfrm>
            <a:off x="466431" y="1696833"/>
            <a:ext cx="6479314" cy="47746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 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angat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bergantung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strategi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l-GR" sz="1600" b="1" dirty="0">
                <a:solidFill>
                  <a:srgbClr val="F9FAFB"/>
                </a:solidFill>
                <a:effectLst/>
              </a:rPr>
              <a:t>ε‑</a:t>
            </a:r>
            <a:r>
              <a:rPr lang="en-ID" sz="1600" b="1" dirty="0">
                <a:solidFill>
                  <a:srgbClr val="F9FAFB"/>
                </a:solidFill>
                <a:effectLst/>
              </a:rPr>
              <a:t>greedy </a:t>
            </a:r>
            <a:r>
              <a:rPr lang="en-ID" sz="1600" dirty="0" err="1">
                <a:solidFill>
                  <a:srgbClr val="F9FAFB"/>
                </a:solidFill>
                <a:effectLst/>
              </a:rPr>
              <a:t>kurang</a:t>
            </a:r>
            <a:r>
              <a:rPr lang="en-ID" sz="1600" dirty="0">
                <a:solidFill>
                  <a:srgbClr val="F9FAFB"/>
                </a:solidFill>
                <a:effectLst/>
              </a:rPr>
              <a:t> </a:t>
            </a:r>
            <a:r>
              <a:rPr lang="en-ID" sz="1600" dirty="0" err="1">
                <a:solidFill>
                  <a:srgbClr val="F9FAFB"/>
                </a:solidFill>
                <a:effectLst/>
              </a:rPr>
              <a:t>efisien</a:t>
            </a:r>
            <a:r>
              <a:rPr lang="en-ID" sz="1600" dirty="0">
                <a:solidFill>
                  <a:srgbClr val="F9FAFB"/>
                </a:solidFill>
                <a:effectLst/>
              </a:rPr>
              <a:t> pada </a:t>
            </a:r>
            <a:r>
              <a:rPr lang="en-ID" sz="1600" i="1" dirty="0">
                <a:solidFill>
                  <a:srgbClr val="F9FAFB"/>
                </a:solidFill>
                <a:effectLst/>
              </a:rPr>
              <a:t>environment </a:t>
            </a:r>
            <a:r>
              <a:rPr lang="en-ID" sz="1600" dirty="0" err="1">
                <a:solidFill>
                  <a:srgbClr val="F9FAFB"/>
                </a:solidFill>
                <a:effectLst/>
              </a:rPr>
              <a:t>dengan</a:t>
            </a:r>
            <a:r>
              <a:rPr lang="en-ID" sz="1600" dirty="0">
                <a:solidFill>
                  <a:srgbClr val="F9FAFB"/>
                </a:solidFill>
                <a:effectLst/>
              </a:rPr>
              <a:t> </a:t>
            </a:r>
            <a:r>
              <a:rPr lang="en-ID" sz="1600" i="1" dirty="0">
                <a:solidFill>
                  <a:srgbClr val="F9FAFB"/>
                </a:solidFill>
                <a:effectLst/>
              </a:rPr>
              <a:t>reward </a:t>
            </a:r>
            <a:r>
              <a:rPr lang="en-ID" sz="1600" dirty="0" err="1">
                <a:solidFill>
                  <a:srgbClr val="F9FAFB"/>
                </a:solidFill>
                <a:effectLst/>
              </a:rPr>
              <a:t>jarang</a:t>
            </a:r>
            <a:r>
              <a:rPr lang="en-ID" sz="1600" dirty="0">
                <a:solidFill>
                  <a:srgbClr val="F9FAFB"/>
                </a:solidFill>
                <a:effectLst/>
              </a:rPr>
              <a:t> dan </a:t>
            </a:r>
            <a:r>
              <a:rPr lang="en-ID" sz="1600" dirty="0" err="1">
                <a:solidFill>
                  <a:srgbClr val="F9FAFB"/>
                </a:solidFill>
                <a:effectLst/>
              </a:rPr>
              <a:t>penalti</a:t>
            </a:r>
            <a:r>
              <a:rPr lang="en-ID" sz="1600" dirty="0">
                <a:solidFill>
                  <a:srgbClr val="F9FAFB"/>
                </a:solidFill>
                <a:effectLst/>
              </a:rPr>
              <a:t> fatal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Eksplorasi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acak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sering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menyebabkan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terminasi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dini</a:t>
            </a:r>
            <a:endParaRPr lang="en-ID" sz="1600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600" i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Minesweeper </a:t>
            </a:r>
            <a:r>
              <a:rPr lang="en-ID" sz="16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Adalah </a:t>
            </a:r>
            <a:r>
              <a:rPr lang="en-ID" sz="1600" b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POMDP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i="1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Observasi</a:t>
            </a:r>
            <a:r>
              <a:rPr lang="en-ID" sz="1600" b="1" i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600" b="1" i="1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parsial</a:t>
            </a:r>
            <a:endParaRPr lang="en-ID" sz="1600" b="1" i="1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i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Reward </a:t>
            </a:r>
            <a:r>
              <a:rPr lang="en-ID" sz="1600" b="1" i="1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jarang</a:t>
            </a:r>
            <a:endParaRPr lang="en-ID" sz="1600" b="1" i="1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i="1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Penalti</a:t>
            </a:r>
            <a:r>
              <a:rPr lang="en-ID" sz="1600" b="1" i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fatal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</a:t>
            </a:r>
            <a:r>
              <a:rPr lang="en-US" sz="16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memanfaatkan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representasi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laten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critic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bonus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UCB,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tanpa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menambah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parameter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atau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modul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baru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Integrasi </a:t>
            </a: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belum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pernah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diuji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diskrit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logika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terminal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12845B-1E09-DBCE-38D2-D37BE9DF67DF}"/>
              </a:ext>
            </a:extLst>
          </p:cNvPr>
          <p:cNvCxnSpPr>
            <a:cxnSpLocks/>
          </p:cNvCxnSpPr>
          <p:nvPr/>
        </p:nvCxnSpPr>
        <p:spPr>
          <a:xfrm>
            <a:off x="6945745" y="1705633"/>
            <a:ext cx="0" cy="4396509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2AFE83-4660-BF4D-ABD4-08EF4EC55839}"/>
              </a:ext>
            </a:extLst>
          </p:cNvPr>
          <p:cNvSpPr txBox="1"/>
          <p:nvPr/>
        </p:nvSpPr>
        <p:spPr>
          <a:xfrm>
            <a:off x="5638800" y="297410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LID4096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E341BE0-AEC2-F88B-50D9-B1B68170D414}"/>
              </a:ext>
            </a:extLst>
          </p:cNvPr>
          <p:cNvGrpSpPr/>
          <p:nvPr/>
        </p:nvGrpSpPr>
        <p:grpSpPr>
          <a:xfrm>
            <a:off x="7592629" y="2486823"/>
            <a:ext cx="3938354" cy="871784"/>
            <a:chOff x="7149284" y="1696833"/>
            <a:chExt cx="3938354" cy="87178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7F57FE9-4480-E87B-95EC-8FB206331B48}"/>
                </a:ext>
              </a:extLst>
            </p:cNvPr>
            <p:cNvGrpSpPr/>
            <p:nvPr/>
          </p:nvGrpSpPr>
          <p:grpSpPr>
            <a:xfrm>
              <a:off x="7149284" y="1705633"/>
              <a:ext cx="862984" cy="862984"/>
              <a:chOff x="8930872" y="1705633"/>
              <a:chExt cx="862984" cy="862984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8A5D1B2-745E-D860-BE4C-B9BE8B028270}"/>
                  </a:ext>
                </a:extLst>
              </p:cNvPr>
              <p:cNvSpPr/>
              <p:nvPr/>
            </p:nvSpPr>
            <p:spPr>
              <a:xfrm>
                <a:off x="8930872" y="1705633"/>
                <a:ext cx="862984" cy="86298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14" name="Graphic 13" descr="Gears with solid fill">
                <a:extLst>
                  <a:ext uri="{FF2B5EF4-FFF2-40B4-BE49-F238E27FC236}">
                    <a16:creationId xmlns:a16="http://schemas.microsoft.com/office/drawing/2014/main" id="{07AB8411-4D0C-DC4C-F769-B6BFF4166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047481" y="1822242"/>
                <a:ext cx="629767" cy="629767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C06F174-D09A-CF4E-51B9-B6FA5DACB038}"/>
                </a:ext>
              </a:extLst>
            </p:cNvPr>
            <p:cNvGrpSpPr/>
            <p:nvPr/>
          </p:nvGrpSpPr>
          <p:grpSpPr>
            <a:xfrm>
              <a:off x="8621387" y="1696833"/>
              <a:ext cx="862984" cy="862984"/>
              <a:chOff x="7506816" y="3792679"/>
              <a:chExt cx="862984" cy="862984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5C3DCE1-B339-D871-8A90-990F8ABDFF94}"/>
                  </a:ext>
                </a:extLst>
              </p:cNvPr>
              <p:cNvSpPr/>
              <p:nvPr/>
            </p:nvSpPr>
            <p:spPr>
              <a:xfrm>
                <a:off x="7506816" y="3792679"/>
                <a:ext cx="862984" cy="86298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1817CA-1066-17CD-7C3B-321F783B054B}"/>
                  </a:ext>
                </a:extLst>
              </p:cNvPr>
              <p:cNvSpPr txBox="1"/>
              <p:nvPr/>
            </p:nvSpPr>
            <p:spPr>
              <a:xfrm>
                <a:off x="7710355" y="3838859"/>
                <a:ext cx="49609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4000" b="1" i="0" dirty="0">
                    <a:effectLst/>
                  </a:rPr>
                  <a:t>ε</a:t>
                </a:r>
                <a:endParaRPr lang="LID4096" sz="4000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0B147FD-72B3-C8F9-4333-7F8DC8869C42}"/>
                </a:ext>
              </a:extLst>
            </p:cNvPr>
            <p:cNvGrpSpPr/>
            <p:nvPr/>
          </p:nvGrpSpPr>
          <p:grpSpPr>
            <a:xfrm>
              <a:off x="10224654" y="1705633"/>
              <a:ext cx="862984" cy="862984"/>
              <a:chOff x="10224654" y="1705633"/>
              <a:chExt cx="862984" cy="862984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5F5ABAB-69F2-5A6E-61DE-3C65FD1DE89D}"/>
                  </a:ext>
                </a:extLst>
              </p:cNvPr>
              <p:cNvSpPr/>
              <p:nvPr/>
            </p:nvSpPr>
            <p:spPr>
              <a:xfrm>
                <a:off x="10224654" y="1705633"/>
                <a:ext cx="862984" cy="86298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pic>
            <p:nvPicPr>
              <p:cNvPr id="28" name="Graphic 27" descr="Close with solid fill">
                <a:extLst>
                  <a:ext uri="{FF2B5EF4-FFF2-40B4-BE49-F238E27FC236}">
                    <a16:creationId xmlns:a16="http://schemas.microsoft.com/office/drawing/2014/main" id="{CE40557B-B2BB-2302-D92B-C5280A12B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397920" y="1888135"/>
                <a:ext cx="516451" cy="516451"/>
              </a:xfrm>
              <a:prstGeom prst="rect">
                <a:avLst/>
              </a:prstGeom>
            </p:spPr>
          </p:pic>
        </p:grpSp>
        <p:pic>
          <p:nvPicPr>
            <p:cNvPr id="30" name="Graphic 29" descr="Add with solid fill">
              <a:extLst>
                <a:ext uri="{FF2B5EF4-FFF2-40B4-BE49-F238E27FC236}">
                  <a16:creationId xmlns:a16="http://schemas.microsoft.com/office/drawing/2014/main" id="{F6A4C7FB-9FD1-9622-009E-F5EEA922A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28877" y="1962765"/>
              <a:ext cx="379842" cy="379842"/>
            </a:xfrm>
            <a:prstGeom prst="rect">
              <a:avLst/>
            </a:prstGeom>
          </p:spPr>
        </p:pic>
        <p:pic>
          <p:nvPicPr>
            <p:cNvPr id="34" name="Graphic 33" descr="Arrow Right with solid fill">
              <a:extLst>
                <a:ext uri="{FF2B5EF4-FFF2-40B4-BE49-F238E27FC236}">
                  <a16:creationId xmlns:a16="http://schemas.microsoft.com/office/drawing/2014/main" id="{869F8EA9-5F0F-B641-3E96-3355B332E6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51586" y="1918813"/>
              <a:ext cx="605852" cy="436624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BF1F2FA-BFE5-9207-A2D0-7A3DFF994B6F}"/>
              </a:ext>
            </a:extLst>
          </p:cNvPr>
          <p:cNvGrpSpPr/>
          <p:nvPr/>
        </p:nvGrpSpPr>
        <p:grpSpPr>
          <a:xfrm>
            <a:off x="7592629" y="4551834"/>
            <a:ext cx="3938354" cy="871784"/>
            <a:chOff x="7149284" y="1696833"/>
            <a:chExt cx="3938354" cy="87178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1D9AD8F-3D2C-BF69-B4EC-5D428EC4ADBD}"/>
                </a:ext>
              </a:extLst>
            </p:cNvPr>
            <p:cNvGrpSpPr/>
            <p:nvPr/>
          </p:nvGrpSpPr>
          <p:grpSpPr>
            <a:xfrm>
              <a:off x="7149284" y="1705633"/>
              <a:ext cx="862984" cy="862984"/>
              <a:chOff x="8930872" y="1705633"/>
              <a:chExt cx="862984" cy="86298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1F93A39-5999-EF3D-A8CC-0B2479D0DA50}"/>
                  </a:ext>
                </a:extLst>
              </p:cNvPr>
              <p:cNvSpPr/>
              <p:nvPr/>
            </p:nvSpPr>
            <p:spPr>
              <a:xfrm>
                <a:off x="8930872" y="1705633"/>
                <a:ext cx="862984" cy="86298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pic>
            <p:nvPicPr>
              <p:cNvPr id="48" name="Graphic 47" descr="Gears with solid fill">
                <a:extLst>
                  <a:ext uri="{FF2B5EF4-FFF2-40B4-BE49-F238E27FC236}">
                    <a16:creationId xmlns:a16="http://schemas.microsoft.com/office/drawing/2014/main" id="{958CCE14-30B9-7A73-47C2-FA8A4E909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047481" y="1822242"/>
                <a:ext cx="629767" cy="629767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4761323-450C-41EF-3440-AB5884917548}"/>
                </a:ext>
              </a:extLst>
            </p:cNvPr>
            <p:cNvGrpSpPr/>
            <p:nvPr/>
          </p:nvGrpSpPr>
          <p:grpSpPr>
            <a:xfrm>
              <a:off x="8621387" y="1696833"/>
              <a:ext cx="991549" cy="862984"/>
              <a:chOff x="7506816" y="3792679"/>
              <a:chExt cx="991549" cy="86298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B2C4567-901E-6031-707E-DAB174B17455}"/>
                  </a:ext>
                </a:extLst>
              </p:cNvPr>
              <p:cNvSpPr/>
              <p:nvPr/>
            </p:nvSpPr>
            <p:spPr>
              <a:xfrm>
                <a:off x="7506816" y="3792679"/>
                <a:ext cx="862984" cy="86298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1AFF0F-B31D-6DAC-5566-3C2BE5B6FCCF}"/>
                  </a:ext>
                </a:extLst>
              </p:cNvPr>
              <p:cNvSpPr txBox="1"/>
              <p:nvPr/>
            </p:nvSpPr>
            <p:spPr>
              <a:xfrm>
                <a:off x="7635382" y="3929339"/>
                <a:ext cx="86298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1" i="0" dirty="0">
                    <a:effectLst/>
                  </a:rPr>
                  <a:t>?</a:t>
                </a:r>
                <a:r>
                  <a:rPr lang="en-US" sz="3200" b="1" dirty="0"/>
                  <a:t>+</a:t>
                </a:r>
                <a:endParaRPr lang="LID4096" sz="3200" dirty="0"/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779476-5898-D6A1-2A3E-415C3DE283B7}"/>
                </a:ext>
              </a:extLst>
            </p:cNvPr>
            <p:cNvSpPr/>
            <p:nvPr/>
          </p:nvSpPr>
          <p:spPr>
            <a:xfrm>
              <a:off x="10224654" y="1705633"/>
              <a:ext cx="862984" cy="86298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pic>
          <p:nvPicPr>
            <p:cNvPr id="41" name="Graphic 40" descr="Add with solid fill">
              <a:extLst>
                <a:ext uri="{FF2B5EF4-FFF2-40B4-BE49-F238E27FC236}">
                  <a16:creationId xmlns:a16="http://schemas.microsoft.com/office/drawing/2014/main" id="{3913020C-229B-4383-58E4-746E3706F6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28877" y="1962765"/>
              <a:ext cx="379842" cy="379842"/>
            </a:xfrm>
            <a:prstGeom prst="rect">
              <a:avLst/>
            </a:prstGeom>
          </p:spPr>
        </p:pic>
        <p:pic>
          <p:nvPicPr>
            <p:cNvPr id="42" name="Graphic 41" descr="Arrow Right with solid fill">
              <a:extLst>
                <a:ext uri="{FF2B5EF4-FFF2-40B4-BE49-F238E27FC236}">
                  <a16:creationId xmlns:a16="http://schemas.microsoft.com/office/drawing/2014/main" id="{2B3AF27D-491D-B0A1-8DD8-F4965F094E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51586" y="1918813"/>
              <a:ext cx="605852" cy="436624"/>
            </a:xfrm>
            <a:prstGeom prst="rect">
              <a:avLst/>
            </a:prstGeom>
          </p:spPr>
        </p:pic>
      </p:grpSp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E144BB83-EE1B-6F07-6B46-A1B4B98AE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07739" y="4700375"/>
            <a:ext cx="583502" cy="5835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B8AA7E-1B25-AC1E-1EFD-4CE2F40E8FC0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47FC3B4-8DBB-ECBA-D9B8-4676F9AB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5664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1EE5-8D09-C410-2DE4-663DDE9C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0F0600-5EAB-483A-B68E-7DEF79D9B940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184146-64C8-5AC4-39F3-897E3DF5CDD6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E969417-42F2-E641-A249-92C36216B61D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9910F-0C5F-AF4F-1FB3-1E3CF0F10851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8526A-8875-1881-39C7-02542B9789BD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Rumusan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Masalah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586C4C-57BE-1CBD-EC8B-C40B63FD3904}"/>
              </a:ext>
            </a:extLst>
          </p:cNvPr>
          <p:cNvSpPr/>
          <p:nvPr/>
        </p:nvSpPr>
        <p:spPr>
          <a:xfrm>
            <a:off x="5029147" y="2481584"/>
            <a:ext cx="5495835" cy="18946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Validitas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Implementasi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Correctness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Sampel 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Performance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Adaptivitas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Mechanism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Kualitas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Behavioral Quality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  <a:endParaRPr lang="en-US" sz="1600" b="1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852E29-88EA-2F49-30F5-74BA1D59D8BF}"/>
              </a:ext>
            </a:extLst>
          </p:cNvPr>
          <p:cNvGrpSpPr/>
          <p:nvPr/>
        </p:nvGrpSpPr>
        <p:grpSpPr>
          <a:xfrm>
            <a:off x="1280058" y="2014201"/>
            <a:ext cx="3077568" cy="3191715"/>
            <a:chOff x="855259" y="1718838"/>
            <a:chExt cx="3077568" cy="3191715"/>
          </a:xfrm>
        </p:grpSpPr>
        <p:pic>
          <p:nvPicPr>
            <p:cNvPr id="9" name="Graphic 8" descr="List outline">
              <a:extLst>
                <a:ext uri="{FF2B5EF4-FFF2-40B4-BE49-F238E27FC236}">
                  <a16:creationId xmlns:a16="http://schemas.microsoft.com/office/drawing/2014/main" id="{278C6556-2A62-3767-18A4-AB8B43DA11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8427" y="2876382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Badge Tick1 outline">
              <a:extLst>
                <a:ext uri="{FF2B5EF4-FFF2-40B4-BE49-F238E27FC236}">
                  <a16:creationId xmlns:a16="http://schemas.microsoft.com/office/drawing/2014/main" id="{61A68071-624B-B9EA-0F44-452A350225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0401" y="1718838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Robot Hand outline">
              <a:extLst>
                <a:ext uri="{FF2B5EF4-FFF2-40B4-BE49-F238E27FC236}">
                  <a16:creationId xmlns:a16="http://schemas.microsoft.com/office/drawing/2014/main" id="{170401DA-5E78-51AC-1BF8-E6C202277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04027" y="3996153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Mental Health outline">
              <a:extLst>
                <a:ext uri="{FF2B5EF4-FFF2-40B4-BE49-F238E27FC236}">
                  <a16:creationId xmlns:a16="http://schemas.microsoft.com/office/drawing/2014/main" id="{0F45DC48-EF47-AAA2-413A-F4E5695554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5259" y="2876382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Arrow: Clockwise curve outline">
              <a:extLst>
                <a:ext uri="{FF2B5EF4-FFF2-40B4-BE49-F238E27FC236}">
                  <a16:creationId xmlns:a16="http://schemas.microsoft.com/office/drawing/2014/main" id="{1C5BB31C-6AD0-22CA-B481-C06D019EBA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9099934">
              <a:off x="2941982" y="2145287"/>
              <a:ext cx="547790" cy="547790"/>
            </a:xfrm>
            <a:prstGeom prst="rect">
              <a:avLst/>
            </a:prstGeom>
          </p:spPr>
        </p:pic>
        <p:pic>
          <p:nvPicPr>
            <p:cNvPr id="22" name="Graphic 21" descr="Arrow: Clockwise curve outline">
              <a:extLst>
                <a:ext uri="{FF2B5EF4-FFF2-40B4-BE49-F238E27FC236}">
                  <a16:creationId xmlns:a16="http://schemas.microsoft.com/office/drawing/2014/main" id="{5B32A735-C700-1D63-D9AD-E2480D8ADA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4901858">
              <a:off x="3100116" y="3922206"/>
              <a:ext cx="547790" cy="547790"/>
            </a:xfrm>
            <a:prstGeom prst="rect">
              <a:avLst/>
            </a:prstGeom>
          </p:spPr>
        </p:pic>
        <p:pic>
          <p:nvPicPr>
            <p:cNvPr id="23" name="Graphic 22" descr="Arrow: Clockwise curve outline">
              <a:extLst>
                <a:ext uri="{FF2B5EF4-FFF2-40B4-BE49-F238E27FC236}">
                  <a16:creationId xmlns:a16="http://schemas.microsoft.com/office/drawing/2014/main" id="{ABD6A2B9-52F6-419F-F5D2-F4DBB346BA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003946">
              <a:off x="1240682" y="4006046"/>
              <a:ext cx="547790" cy="547790"/>
            </a:xfrm>
            <a:prstGeom prst="rect">
              <a:avLst/>
            </a:prstGeom>
          </p:spPr>
        </p:pic>
        <p:pic>
          <p:nvPicPr>
            <p:cNvPr id="24" name="Graphic 23" descr="Arrow: Clockwise curve outline">
              <a:extLst>
                <a:ext uri="{FF2B5EF4-FFF2-40B4-BE49-F238E27FC236}">
                  <a16:creationId xmlns:a16="http://schemas.microsoft.com/office/drawing/2014/main" id="{75C6AA7A-4C5F-49CB-71C7-16EC6902F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4868169">
              <a:off x="1240683" y="2168046"/>
              <a:ext cx="547790" cy="547790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381F044-0FCC-BA84-D96C-B1E59DB54195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91CEB562-0266-16E7-C183-A0FF2E933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89121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96B89-587E-2743-9201-53117B29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E28CA-D137-6E38-0267-973437BB3D27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3507F0-2DE8-8F8F-2023-465DDDBBA71F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2C4A130-886D-97E9-66FE-AF70532903FE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4F3A84-AE5A-305F-9D7B-C1944B6D4847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559AD7-AF4D-3BDD-A38B-7F31D244E4C8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Tujuan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Penelitian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3599A-20B0-36C3-BC2B-13AFED50C7AF}"/>
              </a:ext>
            </a:extLst>
          </p:cNvPr>
          <p:cNvSpPr/>
          <p:nvPr/>
        </p:nvSpPr>
        <p:spPr>
          <a:xfrm>
            <a:off x="3045659" y="2481689"/>
            <a:ext cx="6100671" cy="18946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Memvalidasi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Implementasi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Correctness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Mengevaluasi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Sampel 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Performance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Menganalisis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Adaptivitas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Mechanism</a:t>
            </a: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Menilai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Kualitas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20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</a:t>
            </a: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Behavioral Quality</a:t>
            </a: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  <a:endParaRPr lang="en-US" sz="1600" b="1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F7D7EA-DE4D-B634-36B0-6D76F133D436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BCA2006F-404A-CC1C-242A-3D5E51526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8905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3F1B-AEC5-427F-A9C0-C75A5CB3A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997D57-5A0E-FD23-7121-3FE58EF1F1AF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79576D-E624-F405-0310-BB5A6F022D73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7C474B4-2B4E-95C0-6632-AC083ECFD7A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92BEB-0393-B0A5-E12E-CA842F1FA939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BD4252-15B8-1621-56D1-B1E4D3D00AD6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Manfaat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Penelit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ian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64A37-5D7E-E047-97A0-5973B10EA00A}"/>
              </a:ext>
            </a:extLst>
          </p:cNvPr>
          <p:cNvSpPr/>
          <p:nvPr/>
        </p:nvSpPr>
        <p:spPr>
          <a:xfrm>
            <a:off x="1666880" y="1846435"/>
            <a:ext cx="8858102" cy="375019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Manfaat </a:t>
            </a:r>
            <a:r>
              <a:rPr lang="en-US" sz="2000" b="1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Praktis</a:t>
            </a:r>
            <a:endParaRPr lang="en-US" sz="2000" b="1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Implementasi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CAE-DQN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terverifikasi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sebagai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acuan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riset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lanjutan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Bukti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empiris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lebih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efektif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dibandingkan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acak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environment </a:t>
            </a:r>
            <a:r>
              <a:rPr lang="en-US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isiko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tinggi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Mengurangi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ketergantungan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tuning 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manual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Manfaat </a:t>
            </a:r>
            <a:r>
              <a:rPr lang="en-US" sz="2000" b="1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Akademis</a:t>
            </a:r>
            <a:endParaRPr lang="en-US" sz="2000" b="1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Evaluasi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pertama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 pada </a:t>
            </a:r>
            <a:r>
              <a:rPr lang="en-US" sz="16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environment </a:t>
            </a: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diskrit-logika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penalty terminal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Analisis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kualitatif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perilaku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self-annealing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konteks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inferensi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logis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Dokumentasi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</a:t>
            </a: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eknik</a:t>
            </a: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implementasi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Sherman-Morrison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&amp;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normalisasi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Welford</a:t>
            </a:r>
            <a:endParaRPr lang="en-US" sz="1600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6E7C3-49D1-422A-ED0B-7D710004F779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61C9F43-C0F1-592A-C1FB-27002E1B8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8919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564C-92F2-DA73-1E60-0E4D6CC7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5B7B8-6ED7-8787-E8CE-95E76E85F5B3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4C66FD-358E-B3CA-28CA-250AD13EB3E1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C459EA6-02DF-5666-2784-956D16F6D245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F5B19-D4F0-0FCA-0FD8-F33F8FF400DF}"/>
              </a:ext>
            </a:extLst>
          </p:cNvPr>
          <p:cNvSpPr/>
          <p:nvPr/>
        </p:nvSpPr>
        <p:spPr>
          <a:xfrm>
            <a:off x="8930872" y="315636"/>
            <a:ext cx="318822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7F2C85-C826-9B10-218A-47EC37F6236B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Batasan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Masalah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15B12-5F11-15E0-320A-101AED2A1747}"/>
              </a:ext>
            </a:extLst>
          </p:cNvPr>
          <p:cNvSpPr/>
          <p:nvPr/>
        </p:nvSpPr>
        <p:spPr>
          <a:xfrm>
            <a:off x="4024714" y="1747391"/>
            <a:ext cx="4142562" cy="43041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 </a:t>
            </a:r>
            <a:r>
              <a:rPr lang="en-US" sz="20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 x 6, 4 </a:t>
            </a:r>
            <a:r>
              <a:rPr lang="en-US" sz="20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endParaRPr lang="en-US" sz="20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One-hot encoding </a:t>
            </a:r>
            <a:r>
              <a:rPr lang="en-US" sz="20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 x 6 x 10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 (</a:t>
            </a:r>
            <a:r>
              <a:rPr lang="el-GR" sz="2000" b="1" dirty="0">
                <a:solidFill>
                  <a:srgbClr val="F9FAFB"/>
                </a:solidFill>
                <a:effectLst/>
              </a:rPr>
              <a:t>ε‑</a:t>
            </a:r>
            <a:r>
              <a:rPr lang="en-ID" sz="2000" b="1" dirty="0">
                <a:solidFill>
                  <a:srgbClr val="F9FAFB"/>
                </a:solidFill>
                <a:effectLst/>
              </a:rPr>
              <a:t>greedy) </a:t>
            </a:r>
            <a:r>
              <a:rPr lang="en-ID" sz="2000" i="1" dirty="0">
                <a:solidFill>
                  <a:srgbClr val="F9FAFB"/>
                </a:solidFill>
                <a:effectLst/>
              </a:rPr>
              <a:t>vs</a:t>
            </a:r>
            <a:r>
              <a:rPr lang="en-ID" sz="2000" b="1" dirty="0">
                <a:solidFill>
                  <a:srgbClr val="F9FAFB"/>
                </a:solidFill>
                <a:effectLst/>
              </a:rPr>
              <a:t> CAE-DQN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2000" cap="none" spc="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Arsitektur</a:t>
            </a:r>
            <a:r>
              <a:rPr lang="en-ID" sz="2000" cap="none" spc="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2000" cap="none" spc="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dasar</a:t>
            </a:r>
            <a:r>
              <a:rPr lang="en-ID" sz="2000" cap="none" spc="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2000" cap="none" spc="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identik</a:t>
            </a:r>
            <a:endParaRPr lang="en-ID" sz="2000" cap="none" spc="0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20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Pelatihan</a:t>
            </a:r>
            <a:r>
              <a:rPr lang="en-ID" sz="2000" b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80,000 </a:t>
            </a:r>
            <a:r>
              <a:rPr lang="en-ID" sz="20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episode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2000" cap="none" spc="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Metrik</a:t>
            </a:r>
            <a:r>
              <a:rPr lang="en-ID" sz="20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20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evaluasi</a:t>
            </a:r>
            <a:endParaRPr lang="en-ID" sz="2000" cap="none" spc="0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cap="none" spc="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Win rate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Median progress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cap="none" spc="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Median reward / episode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Number of clicks / episode</a:t>
            </a:r>
            <a:endParaRPr lang="en-US" sz="1600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26774-7572-6E66-442E-008195F09DC4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0C0EFAFA-F5A4-E625-1E22-11402A75D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2579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7610-1F71-D4FD-2A12-19D46589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3DD93F-193C-7FCF-1EB9-F5A79C7FD1A4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40835F-BEBE-3B93-7B21-18BDB0C8EEE7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09BE51F-B601-7AF3-A8E5-D5168962DF9D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5DDC28-7481-DE92-1606-391C9765FC73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E9714B-92EC-7141-CE54-442069423B84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Dasar Reinforcement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F917E-F0D7-6106-EE93-83EA5BB8266E}"/>
              </a:ext>
            </a:extLst>
          </p:cNvPr>
          <p:cNvSpPr/>
          <p:nvPr/>
        </p:nvSpPr>
        <p:spPr>
          <a:xfrm>
            <a:off x="558793" y="1771249"/>
            <a:ext cx="5925134" cy="26421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RL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=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belajar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mengambil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Keputusan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melalui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interaksi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langsung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Tujuan =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memaksimalkan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expected discounted return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State =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konfigurasi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papan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teramati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(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parsial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Action =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memilih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dibuka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Reward =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scalar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positif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/negative (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aman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menang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kalah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  <a:endParaRPr lang="en-US" sz="1600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1268" name="Picture 4" descr="Visually searched image">
            <a:extLst>
              <a:ext uri="{FF2B5EF4-FFF2-40B4-BE49-F238E27FC236}">
                <a16:creationId xmlns:a16="http://schemas.microsoft.com/office/drawing/2014/main" id="{BDA5C689-412F-FB18-61F5-94C3597D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12" y="2594775"/>
            <a:ext cx="4595097" cy="167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A7507A-5B14-EE9A-DE8C-8C23E6D3E96C}"/>
                  </a:ext>
                </a:extLst>
              </p:cNvPr>
              <p:cNvSpPr txBox="1"/>
              <p:nvPr/>
            </p:nvSpPr>
            <p:spPr>
              <a:xfrm>
                <a:off x="1862282" y="4843294"/>
                <a:ext cx="3318156" cy="11751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LID4096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A7507A-5B14-EE9A-DE8C-8C23E6D3E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282" y="4843294"/>
                <a:ext cx="3318156" cy="1175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160FB1E-908F-E187-15BE-BD9E2FAA5933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09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479227B9-E8E9-A4CE-0504-F105D7D1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96196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FAD8-9728-D053-A8FD-E6805A9B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95B850-D229-DA63-1E4C-D7C0CD08927A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683C72-F41D-3EA9-A0A6-7A1A31B356FD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441557D-8ADE-4623-2D78-E9BDFD765072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EBF15-8BF9-4BF6-608F-72199505CFB6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B26B95-B6A6-E85B-A829-FB98A75E2820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Arsitektur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15DCCAB-8F26-B397-75FB-A3173FBA883C}"/>
                  </a:ext>
                </a:extLst>
              </p:cNvPr>
              <p:cNvSpPr/>
              <p:nvPr/>
            </p:nvSpPr>
            <p:spPr>
              <a:xfrm>
                <a:off x="558793" y="1771249"/>
                <a:ext cx="5398662" cy="29608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228600" indent="-2286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Algoritma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value-based 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yang </a:t>
                </a: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menggabungkan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Q-learning </a:t>
                </a: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neural network 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(NN)</a:t>
                </a:r>
              </a:p>
              <a:p>
                <a:pPr marL="228600" indent="-2286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Mengaproksimasi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  <m:sup>
                        <m:r>
                          <a:rPr lang="en-US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i="1" dirty="0" err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 dirty="0" err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melalui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NN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d>
                      <m:dPr>
                        <m:ctrlPr>
                          <a:rPr lang="en-US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 dirty="0" err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i="1" dirty="0" err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 dirty="0" err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b="0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en-US" b="0" i="1" dirty="0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228600" indent="-2286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Tiga </a:t>
                </a:r>
                <a:r>
                  <a:rPr lang="en-US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Komponen</a:t>
                </a: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Utama DQN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NN (MLP/CNN)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Experience Replay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Target Network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15DCCAB-8F26-B397-75FB-A3173FBA8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3" y="1771249"/>
                <a:ext cx="5398662" cy="2960875"/>
              </a:xfrm>
              <a:prstGeom prst="rect">
                <a:avLst/>
              </a:prstGeom>
              <a:blipFill>
                <a:blip r:embed="rId3"/>
                <a:stretch>
                  <a:fillRect l="-1017" b="-26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0D61CAF-2000-20DE-2C66-B89A4CFF8CBA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10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80886BC3-B44D-9509-66F9-74E4ABA10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26" name="Picture 2" descr="Architecture for DQN and Double DQN | Download Scientific Diagram">
            <a:extLst>
              <a:ext uri="{FF2B5EF4-FFF2-40B4-BE49-F238E27FC236}">
                <a16:creationId xmlns:a16="http://schemas.microsoft.com/office/drawing/2014/main" id="{DA58025B-739E-3C06-BBB2-CA9CFDA6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7" y="2353398"/>
            <a:ext cx="5306869" cy="237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795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F364-1710-3941-150D-8A4BD29D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E69BA8-DB40-0948-E111-0AD9B891A68D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8CC706-DAAE-A4DD-42BE-4B22B2A7DE27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1913A03-28A6-5B4B-B2AD-32F372CFC988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02273-1C6D-B3E0-3FA3-A78475B87DAB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33658-4B30-13F8-0053-72681802145E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5B78B-38FE-89B0-9724-693A90AA15AC}"/>
              </a:ext>
            </a:extLst>
          </p:cNvPr>
          <p:cNvSpPr/>
          <p:nvPr/>
        </p:nvSpPr>
        <p:spPr>
          <a:xfrm>
            <a:off x="4556414" y="2340977"/>
            <a:ext cx="4249258" cy="21760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Mengapa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Sebagai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Baseline?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Action space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diskrit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Arsitektur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modular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Isolasi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variabel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Fair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C643E6-DAE0-CEBF-251E-8297C5C55E50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11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A9F139A4-A9EB-15B0-8545-277244F45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4732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5AB2-0CA1-2D71-5D8A-99C1EC33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68193A-FFA0-97A9-6459-A5C1785D2BA5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4DCE97-1BA0-79FB-819D-51CC2514BD74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EB8AE3E-2443-0A5C-08BC-B510AA3A77B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B4025-0B60-6614-2AFF-5A51136174C0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0AE7B-BB51-E0A1-1549-3F20B151FE36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Masalah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A29BB3-1622-CC78-EA75-BB810905B7A8}"/>
              </a:ext>
            </a:extLst>
          </p:cNvPr>
          <p:cNvSpPr/>
          <p:nvPr/>
        </p:nvSpPr>
        <p:spPr>
          <a:xfrm>
            <a:off x="558792" y="1771249"/>
            <a:ext cx="7264407" cy="34225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vs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Eksploitasi</a:t>
            </a:r>
            <a:endParaRPr lang="en-US" sz="20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Eksploitasi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pilih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action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estimasi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Q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tertinggi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pilih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action lain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memperoleh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informasi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baru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Mengapa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Kurang </a:t>
            </a: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Efektif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di Minesweeper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Reward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jarang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fatal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acak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tidak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membedakan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informatif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dan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destruktif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Fase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awal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cenderung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mengalami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terminasi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dini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sedikit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pengalaman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berguna</a:t>
            </a:r>
            <a:endParaRPr lang="en-US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395F2E-4CCE-F737-AB5B-B622003723E4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12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72A6C7C5-3810-8445-26AD-E126A1898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D5F6B73-48BB-B395-3D26-326B6DEC3008}"/>
              </a:ext>
            </a:extLst>
          </p:cNvPr>
          <p:cNvGrpSpPr/>
          <p:nvPr/>
        </p:nvGrpSpPr>
        <p:grpSpPr>
          <a:xfrm>
            <a:off x="7906326" y="1975874"/>
            <a:ext cx="2874067" cy="3217915"/>
            <a:chOff x="7972392" y="2771506"/>
            <a:chExt cx="2061266" cy="2307872"/>
          </a:xfrm>
        </p:grpSpPr>
        <p:pic>
          <p:nvPicPr>
            <p:cNvPr id="11" name="Graphic 10" descr="Magnifying glass with solid fill">
              <a:extLst>
                <a:ext uri="{FF2B5EF4-FFF2-40B4-BE49-F238E27FC236}">
                  <a16:creationId xmlns:a16="http://schemas.microsoft.com/office/drawing/2014/main" id="{0177A76F-6E5C-FE74-47DA-A1C60EA13B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72392" y="2771506"/>
              <a:ext cx="588307" cy="588307"/>
            </a:xfrm>
            <a:prstGeom prst="rect">
              <a:avLst/>
            </a:prstGeom>
          </p:spPr>
        </p:pic>
        <p:pic>
          <p:nvPicPr>
            <p:cNvPr id="13" name="Graphic 12" descr="Beetle with solid fill">
              <a:extLst>
                <a:ext uri="{FF2B5EF4-FFF2-40B4-BE49-F238E27FC236}">
                  <a16:creationId xmlns:a16="http://schemas.microsoft.com/office/drawing/2014/main" id="{A8A2CD28-5996-2C5E-A939-04E156719F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81420" y="3895632"/>
              <a:ext cx="652238" cy="652238"/>
            </a:xfrm>
            <a:prstGeom prst="rect">
              <a:avLst/>
            </a:prstGeom>
          </p:spPr>
        </p:pic>
        <p:pic>
          <p:nvPicPr>
            <p:cNvPr id="15" name="Graphic 14" descr="Signal with solid fill">
              <a:extLst>
                <a:ext uri="{FF2B5EF4-FFF2-40B4-BE49-F238E27FC236}">
                  <a16:creationId xmlns:a16="http://schemas.microsoft.com/office/drawing/2014/main" id="{28D70FE2-7C01-2543-40C6-5E92EA04A1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8000149" y="3073626"/>
              <a:ext cx="2005752" cy="200575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6A6679-A47A-9755-E04D-D6411EC283C9}"/>
                  </a:ext>
                </a:extLst>
              </p:cNvPr>
              <p:cNvSpPr txBox="1"/>
              <p:nvPr/>
            </p:nvSpPr>
            <p:spPr>
              <a:xfrm>
                <a:off x="3418786" y="5393968"/>
                <a:ext cx="5354418" cy="7194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action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acak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dari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𝒜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dengan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probabilitas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𝒜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dengan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probabilitas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LID4096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6A6679-A47A-9755-E04D-D6411EC28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786" y="5393968"/>
                <a:ext cx="5354418" cy="719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485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43E7-84F8-A7EF-4DB0-2BAA012D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90B9EE-A1D3-5639-05BA-09C5F359B9CA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5C0EA7-8676-4DE5-1E4E-095E11DE6BF0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2B1B10F-925F-98B1-584D-06C13203B7E5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22DA4-7CF2-E202-BE51-AD8481A06C0A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A1F9B-C074-AA8A-BA95-993BE7A8BBF9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86EE9-C571-A721-DE04-B677B63CC840}"/>
              </a:ext>
            </a:extLst>
          </p:cNvPr>
          <p:cNvSpPr/>
          <p:nvPr/>
        </p:nvSpPr>
        <p:spPr>
          <a:xfrm>
            <a:off x="558792" y="1771249"/>
            <a:ext cx="7264407" cy="2637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Minesweeper: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Tantangan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Logika &amp;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Observasi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Parsial</a:t>
            </a:r>
            <a:endParaRPr lang="en-US" sz="20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NP-Complete: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tidak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ada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algoritma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deterministic yang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menyelesaikan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semua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konfigurasi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secara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</a:t>
            </a:r>
            <a:endParaRPr lang="en-US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Karakteristik</a:t>
            </a: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POMDP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Reward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Jarang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+ </a:t>
            </a:r>
            <a:r>
              <a:rPr lang="en-US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Fatal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0F557-2121-D9D8-9623-23E0E41E7394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13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305FD70B-99EC-09BE-3FE6-968392AAD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D3878-6EAD-E2C0-6C8D-93691B9A90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46" t="8737" r="10645" b="4224"/>
          <a:stretch>
            <a:fillRect/>
          </a:stretch>
        </p:blipFill>
        <p:spPr>
          <a:xfrm>
            <a:off x="8266546" y="2129637"/>
            <a:ext cx="2641601" cy="259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3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8694-33EA-0747-7438-F84FA2CE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465CB4-8976-07FB-FE3F-E9C0B405C942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0B8E25-C797-2B4E-E084-9C6DEFD59E66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BBB4F36-B34E-490F-5BFD-E13E9837CD5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D9541-7F29-093E-23A7-6ED9B9C8A49B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D9550-4011-1D0D-69DC-94B81C813BB6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RL pada Minesweeper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F6B5A-0A56-EB67-F187-EBB9EB291DFA}"/>
              </a:ext>
            </a:extLst>
          </p:cNvPr>
          <p:cNvSpPr/>
          <p:nvPr/>
        </p:nvSpPr>
        <p:spPr>
          <a:xfrm>
            <a:off x="558793" y="1771249"/>
            <a:ext cx="6045208" cy="40733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Studi </a:t>
            </a:r>
            <a:r>
              <a:rPr lang="en-US" sz="20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Terdahulu</a:t>
            </a:r>
            <a:endParaRPr lang="en-US" sz="20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Gardea et al. (2015) – Tabular Q-Learning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Papan 4 x 4 (3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&gt;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~70%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Papan 5 x 5 &amp; 6 x 6 &gt;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~&lt;5%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Gagal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karena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state space explosion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Wang &amp; Lei (2025) – DQN (CNN, </a:t>
            </a:r>
            <a:r>
              <a:rPr lang="en-US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policy = </a:t>
            </a:r>
            <a:r>
              <a:rPr lang="el-GR" b="1" dirty="0">
                <a:solidFill>
                  <a:srgbClr val="F9FAFB"/>
                </a:solidFill>
              </a:rPr>
              <a:t>ε‑</a:t>
            </a:r>
            <a:r>
              <a:rPr lang="en-ID" b="1" dirty="0">
                <a:solidFill>
                  <a:srgbClr val="F9FAFB"/>
                </a:solidFill>
              </a:rPr>
              <a:t>greedy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Papan 6 x 6 (4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&gt;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~93.3%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Dibutuhkan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~1.5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juta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training steps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konvergen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“There is still room for improvement in sample efficiency”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l-GR" sz="1600" b="1" dirty="0">
                <a:solidFill>
                  <a:srgbClr val="F9FAFB"/>
                </a:solidFill>
              </a:rPr>
              <a:t>ε‑</a:t>
            </a:r>
            <a:r>
              <a:rPr lang="en-ID" sz="1600" b="1" dirty="0">
                <a:solidFill>
                  <a:srgbClr val="F9FAFB"/>
                </a:solidFill>
              </a:rPr>
              <a:t>greedy </a:t>
            </a:r>
            <a:r>
              <a:rPr lang="en-ID" sz="1600" dirty="0" err="1">
                <a:solidFill>
                  <a:srgbClr val="F9FAFB"/>
                </a:solidFill>
              </a:rPr>
              <a:t>masih</a:t>
            </a:r>
            <a:r>
              <a:rPr lang="en-ID" sz="1600" dirty="0">
                <a:solidFill>
                  <a:srgbClr val="F9FAFB"/>
                </a:solidFill>
              </a:rPr>
              <a:t> </a:t>
            </a:r>
            <a:r>
              <a:rPr lang="en-ID" sz="1600" dirty="0" err="1">
                <a:solidFill>
                  <a:srgbClr val="F9FAFB"/>
                </a:solidFill>
              </a:rPr>
              <a:t>kurang</a:t>
            </a:r>
            <a:r>
              <a:rPr lang="en-ID" sz="1600" dirty="0">
                <a:solidFill>
                  <a:srgbClr val="F9FAFB"/>
                </a:solidFill>
              </a:rPr>
              <a:t> </a:t>
            </a:r>
            <a:r>
              <a:rPr lang="en-ID" sz="1600" dirty="0" err="1">
                <a:solidFill>
                  <a:srgbClr val="F9FAFB"/>
                </a:solidFill>
              </a:rPr>
              <a:t>efektif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1EE55-7BE8-89B5-6570-84AEB077C108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14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95BB54B-907D-81E3-C896-9346F573D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DC0468-F6B3-034A-1ADD-3BA92714BD22}"/>
              </a:ext>
            </a:extLst>
          </p:cNvPr>
          <p:cNvSpPr/>
          <p:nvPr/>
        </p:nvSpPr>
        <p:spPr>
          <a:xfrm>
            <a:off x="7152599" y="3129062"/>
            <a:ext cx="4114808" cy="132343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i="1" cap="none" spc="0" dirty="0">
                <a:ln w="0"/>
                <a:cs typeface="Arial" panose="020B0604020202020204" pitchFamily="34" charset="0"/>
              </a:rPr>
              <a:t>“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Meskipun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DQN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berhasil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,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efisiensi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sampel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masih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dapat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ditingkatkan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melalui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strategi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eksplorasi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yang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lebih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cap="none" spc="0" dirty="0" err="1">
                <a:ln w="0"/>
                <a:cs typeface="Arial" panose="020B0604020202020204" pitchFamily="34" charset="0"/>
              </a:rPr>
              <a:t>efektif</a:t>
            </a:r>
            <a:r>
              <a:rPr lang="en-US" sz="2000" b="1" i="1" cap="none" spc="0" dirty="0">
                <a:ln w="0"/>
                <a:cs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315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A057-854C-D36F-E365-D123CD6B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5367A4-C10A-BCFB-A5BB-52BC76324440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FC00FB-96C1-E3DC-8D8C-14F4AFE8954B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AFAC1FB-F7B2-8C91-7197-D96925E3745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6CFA8-D2B7-5407-428E-6F3AF92A883A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B0CDF-06AF-0EA8-BFE9-AEA25CB67749}"/>
              </a:ext>
            </a:extLst>
          </p:cNvPr>
          <p:cNvSpPr/>
          <p:nvPr/>
        </p:nvSpPr>
        <p:spPr>
          <a:xfrm>
            <a:off x="10058400" y="1135177"/>
            <a:ext cx="184536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Strategi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7989DB3-195C-1BA5-8B87-A275BC182BD1}"/>
                  </a:ext>
                </a:extLst>
              </p:cNvPr>
              <p:cNvSpPr/>
              <p:nvPr/>
            </p:nvSpPr>
            <p:spPr>
              <a:xfrm>
                <a:off x="558792" y="1771249"/>
                <a:ext cx="6617863" cy="474078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Eksplorasi</a:t>
                </a:r>
                <a:r>
                  <a:rPr lang="en-US" sz="14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Berbasis</a:t>
                </a:r>
                <a:r>
                  <a:rPr lang="en-US" sz="14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Ketidakpastian</a:t>
                </a:r>
                <a:endParaRPr lang="en-US" sz="1400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Konsep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yang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secara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aktif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mengarahkan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agent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yang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kurang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dipahami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/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pasti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Upper Confidence Bound (UCB)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Formula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matematis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yang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memberikan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bonus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kepada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yang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jarang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dikunjungi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Berbasis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dari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teori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Multi-Armed Bandit (MAB)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Critic as Explorer (CAE)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Memanfaatkan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representasi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laten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dari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jaringan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critic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untuk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menghitung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bonus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eksplorasi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UCB: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</m:e>
                    </m:rad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=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Gram matrix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akumulasi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kovarians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fitur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Gram matrix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diperbarui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Sherman-Morrison,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normalisasi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running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Welford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Bersifat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self-annealing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Kinerja &amp; </a:t>
                </a:r>
                <a:r>
                  <a:rPr lang="en-US" sz="14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Celah</a:t>
                </a:r>
                <a:endParaRPr lang="en-US" sz="1400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Terbukti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meningkatkan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efisiensi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sampel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di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MuJoCo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dan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MiniHack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Belum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diuji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pada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environment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logika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diskret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penalti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terminal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seperti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Minesweeper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7989DB3-195C-1BA5-8B87-A275BC182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2" y="1771249"/>
                <a:ext cx="6617863" cy="4740785"/>
              </a:xfrm>
              <a:prstGeom prst="rect">
                <a:avLst/>
              </a:prstGeom>
              <a:blipFill>
                <a:blip r:embed="rId3"/>
                <a:stretch>
                  <a:fillRect l="-276" b="-1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9B93AE8-D943-CEAF-52C1-053B72BDCC98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15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16E1C3C9-86A2-C63E-821F-6EFFC59A7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122" name="Picture 2" descr="Model Gallery - MuJoCo Documentation">
            <a:extLst>
              <a:ext uri="{FF2B5EF4-FFF2-40B4-BE49-F238E27FC236}">
                <a16:creationId xmlns:a16="http://schemas.microsoft.com/office/drawing/2014/main" id="{D2AFDBA7-2998-E2FA-05A5-EED5D5AFC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885" y="2029845"/>
            <a:ext cx="3804318" cy="213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niHack Level Editor — MiniHack documentation">
            <a:extLst>
              <a:ext uri="{FF2B5EF4-FFF2-40B4-BE49-F238E27FC236}">
                <a16:creationId xmlns:a16="http://schemas.microsoft.com/office/drawing/2014/main" id="{755096DA-1BE7-9AC9-E17F-EE9F018C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655" y="4288335"/>
            <a:ext cx="4196779" cy="184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955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FB9E-CEB8-3672-D6D2-B9B4AE31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21A3A2-4368-7D8D-18D0-9D0A879D84C6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0D31C1-E89A-8789-9010-21CA6F3FA742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A81D430-73CF-F4D1-D081-C07CAD575AF6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D63FA-DA32-DF27-3C0E-A2F03EAF565A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CB201-C3E3-982A-8516-8D0ED870D1AF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Kesenjangan</a:t>
            </a:r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&amp; </a:t>
            </a:r>
            <a:r>
              <a:rPr lang="en-US" sz="1200" i="1" cap="none" spc="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Motivasi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1B43A-4D88-FA18-579A-3D73F9074F10}"/>
              </a:ext>
            </a:extLst>
          </p:cNvPr>
          <p:cNvSpPr/>
          <p:nvPr/>
        </p:nvSpPr>
        <p:spPr>
          <a:xfrm>
            <a:off x="558793" y="1771249"/>
            <a:ext cx="8806880" cy="46735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Kesenjangan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Utama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Sampel </a:t>
            </a:r>
            <a:r>
              <a:rPr lang="el-GR" sz="1600" b="1" dirty="0">
                <a:solidFill>
                  <a:srgbClr val="F9FAFB"/>
                </a:solidFill>
              </a:rPr>
              <a:t>ε‑</a:t>
            </a:r>
            <a:r>
              <a:rPr lang="en-ID" sz="1600" b="1" dirty="0">
                <a:solidFill>
                  <a:srgbClr val="F9FAFB"/>
                </a:solidFill>
              </a:rPr>
              <a:t>greedy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DQN + </a:t>
            </a:r>
            <a:r>
              <a:rPr lang="el-GR" sz="1400" b="1" dirty="0">
                <a:solidFill>
                  <a:srgbClr val="F9FAFB"/>
                </a:solidFill>
              </a:rPr>
              <a:t>ε‑</a:t>
            </a:r>
            <a:r>
              <a:rPr lang="en-ID" sz="1400" b="1" dirty="0">
                <a:solidFill>
                  <a:srgbClr val="F9FAFB"/>
                </a:solidFill>
              </a:rPr>
              <a:t>greedy </a:t>
            </a:r>
            <a:r>
              <a:rPr lang="en-ID" sz="1400" dirty="0">
                <a:solidFill>
                  <a:srgbClr val="F9FAFB"/>
                </a:solidFill>
              </a:rPr>
              <a:t>pada 6 x 6 </a:t>
            </a:r>
            <a:r>
              <a:rPr lang="en-ID" sz="1400" i="1" dirty="0">
                <a:solidFill>
                  <a:srgbClr val="F9FAFB"/>
                </a:solidFill>
              </a:rPr>
              <a:t>Minesweeper </a:t>
            </a:r>
            <a:r>
              <a:rPr lang="en-ID" sz="1400" dirty="0" err="1">
                <a:solidFill>
                  <a:srgbClr val="F9FAFB"/>
                </a:solidFill>
              </a:rPr>
              <a:t>mencapai</a:t>
            </a:r>
            <a:r>
              <a:rPr lang="en-ID" sz="1400" dirty="0">
                <a:solidFill>
                  <a:srgbClr val="F9FAFB"/>
                </a:solidFill>
              </a:rPr>
              <a:t> </a:t>
            </a:r>
            <a:r>
              <a:rPr lang="en-ID" sz="1400" i="1" dirty="0">
                <a:solidFill>
                  <a:srgbClr val="F9FAFB"/>
                </a:solidFill>
              </a:rPr>
              <a:t>win rate </a:t>
            </a:r>
            <a:r>
              <a:rPr lang="en-ID" sz="1400" dirty="0">
                <a:solidFill>
                  <a:srgbClr val="F9FAFB"/>
                </a:solidFill>
              </a:rPr>
              <a:t>93.3%, </a:t>
            </a:r>
            <a:r>
              <a:rPr lang="en-ID" sz="1400" dirty="0" err="1">
                <a:solidFill>
                  <a:srgbClr val="F9FAFB"/>
                </a:solidFill>
              </a:rPr>
              <a:t>namun</a:t>
            </a:r>
            <a:r>
              <a:rPr lang="en-ID" sz="1400" dirty="0">
                <a:solidFill>
                  <a:srgbClr val="F9FAFB"/>
                </a:solidFill>
              </a:rPr>
              <a:t> </a:t>
            </a:r>
            <a:r>
              <a:rPr lang="en-ID" sz="1400" dirty="0" err="1">
                <a:solidFill>
                  <a:srgbClr val="F9FAFB"/>
                </a:solidFill>
              </a:rPr>
              <a:t>membutuhkan</a:t>
            </a:r>
            <a:r>
              <a:rPr lang="en-ID" sz="1400" dirty="0">
                <a:solidFill>
                  <a:srgbClr val="F9FAFB"/>
                </a:solidFill>
              </a:rPr>
              <a:t> ~1.5 </a:t>
            </a:r>
            <a:r>
              <a:rPr lang="en-ID" sz="1400" dirty="0" err="1">
                <a:solidFill>
                  <a:srgbClr val="F9FAFB"/>
                </a:solidFill>
              </a:rPr>
              <a:t>juta</a:t>
            </a:r>
            <a:r>
              <a:rPr lang="en-ID" sz="1400" dirty="0">
                <a:solidFill>
                  <a:srgbClr val="F9FAFB"/>
                </a:solidFill>
              </a:rPr>
              <a:t> </a:t>
            </a:r>
            <a:r>
              <a:rPr lang="en-ID" sz="1400" i="1" dirty="0">
                <a:solidFill>
                  <a:srgbClr val="F9FAFB"/>
                </a:solidFill>
              </a:rPr>
              <a:t>training steps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Efisiensi</a:t>
            </a:r>
            <a:r>
              <a:rPr lang="en-ID" sz="14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4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sampel</a:t>
            </a:r>
            <a:r>
              <a:rPr lang="en-ID" sz="14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4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diakui</a:t>
            </a:r>
            <a:r>
              <a:rPr lang="en-ID" sz="14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4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kurang</a:t>
            </a:r>
            <a:r>
              <a:rPr lang="en-ID" sz="14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4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efisien</a:t>
            </a:r>
            <a:endParaRPr lang="en-ID" sz="1400" dirty="0">
              <a:ln w="0"/>
              <a:solidFill>
                <a:srgbClr val="F9FAFB"/>
              </a:solidFill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 Belum Teruji di Domain Logika </a:t>
            </a:r>
            <a:r>
              <a:rPr lang="en-US" sz="16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Diskret</a:t>
            </a:r>
            <a:endParaRPr lang="en-US" sz="16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menawarkan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laten yang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ringan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dan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self-annealing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Telah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terbukti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di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MuJoCo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MiniHack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namun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belum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pernah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dievaluasi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POMDP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diskrit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fatal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seperti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Fokus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Penelitian</a:t>
            </a:r>
            <a:endParaRPr lang="en-US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Mengintegrasikan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 pada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 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 x 6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Bukan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mengejar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93.3%,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melainkan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mengukur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peningkatan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relative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terhadap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strategi </a:t>
            </a:r>
            <a:r>
              <a:rPr lang="el-GR" sz="1400" b="1" dirty="0">
                <a:solidFill>
                  <a:srgbClr val="F9FAFB"/>
                </a:solidFill>
              </a:rPr>
              <a:t>ε‑</a:t>
            </a:r>
            <a:r>
              <a:rPr lang="en-ID" sz="1400" b="1" dirty="0">
                <a:solidFill>
                  <a:srgbClr val="F9FAFB"/>
                </a:solidFill>
              </a:rPr>
              <a:t>greedy </a:t>
            </a:r>
            <a:r>
              <a:rPr lang="en-ID" sz="1400" b="1" dirty="0" err="1">
                <a:solidFill>
                  <a:srgbClr val="F9FAFB"/>
                </a:solidFill>
              </a:rPr>
              <a:t>dengan</a:t>
            </a:r>
            <a:r>
              <a:rPr lang="en-ID" sz="1400" b="1" dirty="0">
                <a:solidFill>
                  <a:srgbClr val="F9FAFB"/>
                </a:solidFill>
              </a:rPr>
              <a:t> </a:t>
            </a:r>
            <a:r>
              <a:rPr lang="en-ID" sz="1400" i="1" dirty="0">
                <a:solidFill>
                  <a:srgbClr val="F9FAFB"/>
                </a:solidFill>
              </a:rPr>
              <a:t>training budget </a:t>
            </a:r>
            <a:r>
              <a:rPr lang="en-ID" sz="1400" dirty="0" err="1">
                <a:solidFill>
                  <a:srgbClr val="F9FAFB"/>
                </a:solidFill>
              </a:rPr>
              <a:t>terbatas</a:t>
            </a:r>
            <a:endParaRPr lang="en-ID" sz="1400" dirty="0">
              <a:solidFill>
                <a:srgbClr val="F9FAFB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AF8D59-E866-77C4-CD5E-9BE36CE2C99F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16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920397E4-8E11-2223-80D5-DCA57E8EA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27368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4FD7-B9FF-3BF0-3086-0E8E583E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DDA4F0-096C-0BD2-CE77-CBF59FDDF12F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5250C3-FD94-B6A0-3990-B733710024D9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9767B06-38FA-928E-FF4A-B0A323AE2B11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7B60F5-E267-7EB5-8BC7-18034C0B8296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1F03A-60BD-C79B-6AA5-60763A155E75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Mekanisme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6C6368-53F6-6F86-ED7B-9D72D89A3027}"/>
                  </a:ext>
                </a:extLst>
              </p:cNvPr>
              <p:cNvSpPr/>
              <p:nvPr/>
            </p:nvSpPr>
            <p:spPr>
              <a:xfrm>
                <a:off x="558794" y="1771249"/>
                <a:ext cx="6628070" cy="42435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Prinsip</a:t>
                </a:r>
                <a:r>
                  <a:rPr lang="en-US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Kerja</a:t>
                </a:r>
                <a:endParaRPr lang="en-US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Memanfaatkan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Kembali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lapisan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embedding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jaringan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critic </a:t>
                </a: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DQN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masukan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dipetakan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menjadi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vector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fitur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  <m:r>
                      <a:rPr lang="en-US" sz="16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sz="16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oleh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lapisan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embedding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  <m: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digunakan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untuk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menghitung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exploration bonus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berbasis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UCB </a:t>
                </a:r>
                <a14:m>
                  <m:oMath xmlns:m="http://schemas.openxmlformats.org/officeDocument/2006/math">
                    <m: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d>
                      <m:dPr>
                        <m:ctrlPr>
                          <a:rPr lang="en-US" sz="16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6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sz="16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6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n w="0"/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n w="0"/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6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</m:d>
                      </m:e>
                    </m:rad>
                  </m:oMath>
                </a14:m>
                <a:endParaRPr lang="en-US" sz="16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ditambahkan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reward</a:t>
                </a:r>
                <a:endParaRPr lang="en-US" sz="16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Agent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belajar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untuk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memilih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action 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yang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menuju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ketidakpastian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tinggi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(novelty)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Semakin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sering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dikunjungi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, bonus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mengecil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secara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otomatis</a:t>
                </a:r>
                <a:r>
                  <a:rPr lang="en-US" sz="16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6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(self-annealing)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6C6368-53F6-6F86-ED7B-9D72D89A3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4" y="1771249"/>
                <a:ext cx="6628070" cy="4243598"/>
              </a:xfrm>
              <a:prstGeom prst="rect">
                <a:avLst/>
              </a:prstGeom>
              <a:blipFill>
                <a:blip r:embed="rId3"/>
                <a:stretch>
                  <a:fillRect l="-828" b="-8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975E5872-0230-619A-47DD-1273E0A9AB76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17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5438E528-BB1D-CE7E-02FE-C4CA1600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7130B3-CC39-7EC6-BAED-97E772E13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125" y="1981166"/>
            <a:ext cx="3443721" cy="40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AF533-C813-D324-8BBB-19C7F5CC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56346C-AFBF-B641-594F-5CC890A3AE7E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959F58-D6E4-D1DB-05DA-CC767C797698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18D607B-02EF-3C71-AE88-EE50F5AEDB9F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1DE08-F362-7377-D06A-D355DDCB059D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061B6B-9C0B-9266-14B5-77E1FEAE1934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DF1BC0-69E3-ABBB-27D6-EA449952FABA}"/>
                  </a:ext>
                </a:extLst>
              </p:cNvPr>
              <p:cNvSpPr/>
              <p:nvPr/>
            </p:nvSpPr>
            <p:spPr>
              <a:xfrm>
                <a:off x="558793" y="1771249"/>
                <a:ext cx="7707753" cy="485831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Formulasi</a:t>
                </a: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UCB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  <m:d>
                        <m:dPr>
                          <m:ctrlPr>
                            <a:rPr lang="en-US" sz="1400" i="1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400" i="1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  <m:sSup>
                            <m:sSupPr>
                              <m:ctrlP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n w="0"/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n w="0"/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400" i="1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𝜙</m:t>
                    </m:r>
                    <m:d>
                      <m:dPr>
                        <m:ctrlPr>
                          <a:rPr lang="en-US" sz="14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4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= vector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fitur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laten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dari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embedding layer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= </a:t>
                </a:r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Gram matrix,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akumulasi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kovarians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yang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sudah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dikunjungi</a:t>
                </a: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=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koefisien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eksplorasi</a:t>
                </a: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Inisialisasi</a:t>
                </a: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&amp; </a:t>
                </a:r>
                <a:r>
                  <a:rPr lang="en-US" sz="16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Pembaruan</a:t>
                </a:r>
                <a:endParaRPr lang="en-US" sz="1600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14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λI</m:t>
                    </m:r>
                  </m:oMath>
                </a14:m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(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regularisasi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ridge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Diperbarui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secara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incremental via Sherman-Morrison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setiap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kunjungan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state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baru</a:t>
                </a: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dinormalisasi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Welford (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stabilitas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numerik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Integrasi </a:t>
                </a:r>
                <a:r>
                  <a:rPr lang="en-US" sz="16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</a:t>
                </a: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Q-value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𝑎𝑢𝑔</m:t>
                          </m:r>
                          <m:d>
                            <m:dPr>
                              <m:ctrlP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  <m:r>
                                <a:rPr lang="en-US" sz="1400" b="0" i="1" smtClean="0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n w="0"/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a</m:t>
                              </m:r>
                            </m:e>
                          </m:d>
                        </m:sup>
                      </m:sSup>
                      <m:r>
                        <a:rPr lang="en-US" sz="1400" i="1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400" b="0" i="1" smtClean="0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d>
                        <m:dPr>
                          <m:ctrlP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1400" b="0" i="1" smtClean="0">
                          <a:ln w="0"/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  <m:d>
                        <m:dPr>
                          <m:ctrlP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n w="0"/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Self Annealing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Awal: </a:t>
                </a: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didominasi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λI</m:t>
                    </m:r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&gt; bonus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besar</a:t>
                </a: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Seiring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akumulasi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pengalaman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di </a:t>
                </a:r>
                <a14:m>
                  <m:oMath xmlns:m="http://schemas.openxmlformats.org/officeDocument/2006/math">
                    <m:r>
                      <a:rPr lang="en-US" sz="14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4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  <m:sup>
                        <m:r>
                          <a:rPr lang="en-US" sz="14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mengecil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&gt; bonus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menurun</a:t>
                </a:r>
                <a:r>
                  <a:rPr lang="en-US" sz="14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4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otomatis</a:t>
                </a: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DF1BC0-69E3-ABBB-27D6-EA449952FA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3" y="1771249"/>
                <a:ext cx="7707753" cy="4858318"/>
              </a:xfrm>
              <a:prstGeom prst="rect">
                <a:avLst/>
              </a:prstGeom>
              <a:blipFill>
                <a:blip r:embed="rId3"/>
                <a:stretch>
                  <a:fillRect l="-475" b="-2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2977532-2F13-F0EA-C52A-41DFB82A8E9A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18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C4AAF57-E45F-C3C2-37FC-B8D253C5B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82477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9C925-33E9-69F1-03DB-0050A2DC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521F0E-ED67-C385-8144-D0BC7F5E2AC3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DCA7AD-BF5F-5085-422E-602B966404DB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7D819E4-21CD-3CD7-57A7-9D475B219712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DEE0F-8509-DF6B-8FF3-EA8E3442B45E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B7F7BD-0650-EECD-0066-5E67EB1314C9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Kontribusi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Penelitian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4F2D8-A8C9-060F-0AAA-5B66AF6556DA}"/>
              </a:ext>
            </a:extLst>
          </p:cNvPr>
          <p:cNvSpPr/>
          <p:nvPr/>
        </p:nvSpPr>
        <p:spPr>
          <a:xfrm>
            <a:off x="558793" y="1771249"/>
            <a:ext cx="7707753" cy="32929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Evaluasi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Pertama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 pada Domain Logika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Diskrit</a:t>
            </a:r>
            <a:endParaRPr lang="en-US" sz="14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Integrasi 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diuji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 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(POMDP,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reward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jarang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fatal)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Memperluas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pemahaman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tentang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generalitas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laten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Analisis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Kuantitatif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Metrik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utama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akhir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Metrik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turunan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AUC, episode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menuju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50%,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progress per click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Validasi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Empiris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Self-Annealing 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pada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Terminasi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Dini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menurun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alami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seiring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akumulasi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pengalaman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Gram matrix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Membuktikan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sifat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adaptif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tetap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berlaku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domain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reward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jarang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dan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penalti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fatal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723D6-9173-7468-FE30-38A1B5A05989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19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D5241B4-BC65-E504-8A6A-1E2023880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01218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C804-09DA-22A6-9D2B-78D341D0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4ABE41-205F-3344-4119-752532E02801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18EB47-B5D0-310B-6FB4-ABB437A9704D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90AC198-9C2F-A7F8-D032-FDA6F7C1708D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42D4C6-E754-0273-2788-2912046E88C5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58C41-4D51-C448-ECDB-1DD6D218EE06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Prosedur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D545FC-987C-F392-4F98-FD324885DDEB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20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77CF9E0-4AA2-256D-D6D8-0F2F6D437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BDF1C80C-C0DC-D3EF-4E97-227BF64A51FE}"/>
              </a:ext>
            </a:extLst>
          </p:cNvPr>
          <p:cNvGrpSpPr/>
          <p:nvPr/>
        </p:nvGrpSpPr>
        <p:grpSpPr>
          <a:xfrm>
            <a:off x="1947428" y="2676997"/>
            <a:ext cx="8297134" cy="1892617"/>
            <a:chOff x="2880596" y="2964090"/>
            <a:chExt cx="6295226" cy="14359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6A5C08-C199-55D7-9B7F-959960F46538}"/>
                </a:ext>
              </a:extLst>
            </p:cNvPr>
            <p:cNvSpPr/>
            <p:nvPr/>
          </p:nvSpPr>
          <p:spPr>
            <a:xfrm>
              <a:off x="7077415" y="3888576"/>
              <a:ext cx="2098407" cy="5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Evaluasi</a:t>
              </a:r>
              <a:r>
                <a:rPr lang="en-US" sz="1200" dirty="0">
                  <a:solidFill>
                    <a:schemeClr val="tx1"/>
                  </a:solidFill>
                </a:rPr>
                <a:t> Akhir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500 episode x 5 seed </a:t>
              </a:r>
              <a:r>
                <a:rPr lang="en-US" sz="1000" i="1" dirty="0" err="1">
                  <a:solidFill>
                    <a:schemeClr val="tx1"/>
                  </a:solidFill>
                </a:rPr>
                <a:t>papan</a:t>
              </a:r>
              <a:r>
                <a:rPr lang="en-US" sz="1000" i="1" dirty="0">
                  <a:solidFill>
                    <a:schemeClr val="tx1"/>
                  </a:solidFill>
                </a:rPr>
                <a:t> </a:t>
              </a:r>
              <a:r>
                <a:rPr lang="en-US" sz="1000" i="1" dirty="0" err="1">
                  <a:solidFill>
                    <a:schemeClr val="tx1"/>
                  </a:solidFill>
                </a:rPr>
                <a:t>baru</a:t>
              </a:r>
              <a:endParaRPr lang="en-US" sz="1000" i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80D428-6971-E6D1-AB88-E7E031410368}"/>
                </a:ext>
              </a:extLst>
            </p:cNvPr>
            <p:cNvSpPr/>
            <p:nvPr/>
          </p:nvSpPr>
          <p:spPr>
            <a:xfrm>
              <a:off x="2880596" y="2964090"/>
              <a:ext cx="1819564" cy="5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Desain </a:t>
              </a:r>
              <a:r>
                <a:rPr lang="en-US" sz="1200" i="1" dirty="0">
                  <a:solidFill>
                    <a:schemeClr val="tx1"/>
                  </a:solidFill>
                </a:rPr>
                <a:t>Environment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Minesweeper 6 x 6, 4 </a:t>
              </a:r>
              <a:r>
                <a:rPr lang="en-US" sz="1000" i="1" dirty="0" err="1">
                  <a:solidFill>
                    <a:schemeClr val="tx1"/>
                  </a:solidFill>
                </a:rPr>
                <a:t>ranjau</a:t>
              </a:r>
              <a:endParaRPr lang="en-US" sz="10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0B5179-4941-9B70-F4D2-35C8359140D3}"/>
                </a:ext>
              </a:extLst>
            </p:cNvPr>
            <p:cNvSpPr/>
            <p:nvPr/>
          </p:nvSpPr>
          <p:spPr>
            <a:xfrm>
              <a:off x="7077415" y="2968054"/>
              <a:ext cx="2098407" cy="5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Pelatihan</a:t>
              </a:r>
              <a:r>
                <a:rPr lang="en-US" sz="1200" dirty="0">
                  <a:solidFill>
                    <a:schemeClr val="tx1"/>
                  </a:solidFill>
                </a:rPr>
                <a:t> 80,000 Episode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Evaluasi </a:t>
              </a:r>
              <a:r>
                <a:rPr lang="en-US" sz="1000" i="1" dirty="0" err="1">
                  <a:solidFill>
                    <a:schemeClr val="tx1"/>
                  </a:solidFill>
                </a:rPr>
                <a:t>setiap</a:t>
              </a:r>
              <a:r>
                <a:rPr lang="en-US" sz="1000" i="1" dirty="0">
                  <a:solidFill>
                    <a:schemeClr val="tx1"/>
                  </a:solidFill>
                </a:rPr>
                <a:t> 1,000 episode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84C60A-A1D7-22C2-6CA5-7BA6D53D3B7B}"/>
                </a:ext>
              </a:extLst>
            </p:cNvPr>
            <p:cNvSpPr/>
            <p:nvPr/>
          </p:nvSpPr>
          <p:spPr>
            <a:xfrm>
              <a:off x="3482191" y="3888576"/>
              <a:ext cx="2435937" cy="5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Analisis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Statistik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Uji-t, AUC, Mann-Kenall, </a:t>
              </a:r>
              <a:r>
                <a:rPr lang="en-US" sz="1000" i="1" dirty="0" err="1">
                  <a:solidFill>
                    <a:schemeClr val="tx1"/>
                  </a:solidFill>
                </a:rPr>
                <a:t>dll</a:t>
              </a:r>
              <a:r>
                <a:rPr lang="en-US" sz="1000" i="1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2729957-8DF6-159D-C11D-4A2333DB2441}"/>
                </a:ext>
              </a:extLst>
            </p:cNvPr>
            <p:cNvSpPr/>
            <p:nvPr/>
          </p:nvSpPr>
          <p:spPr>
            <a:xfrm>
              <a:off x="4979006" y="2966963"/>
              <a:ext cx="1819564" cy="5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Implementasi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i="1" dirty="0">
                  <a:solidFill>
                    <a:schemeClr val="tx1"/>
                  </a:solidFill>
                </a:rPr>
                <a:t>Agent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DQN (baseline) &amp; CAE-DQN</a:t>
              </a:r>
              <a:endParaRPr lang="LID4096" sz="1000" i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B78A821-10A7-FE96-E2AC-6EA4D4F52FBC}"/>
                </a:ext>
              </a:extLst>
            </p:cNvPr>
            <p:cNvCxnSpPr>
              <a:cxnSpLocks/>
              <a:stCxn id="31" idx="3"/>
              <a:endCxn id="21" idx="1"/>
            </p:cNvCxnSpPr>
            <p:nvPr/>
          </p:nvCxnSpPr>
          <p:spPr>
            <a:xfrm>
              <a:off x="4700160" y="3219833"/>
              <a:ext cx="278846" cy="287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0C3B764-D55D-1B72-8468-E155E4D49255}"/>
                </a:ext>
              </a:extLst>
            </p:cNvPr>
            <p:cNvCxnSpPr>
              <a:cxnSpLocks/>
              <a:stCxn id="21" idx="3"/>
              <a:endCxn id="15" idx="1"/>
            </p:cNvCxnSpPr>
            <p:nvPr/>
          </p:nvCxnSpPr>
          <p:spPr>
            <a:xfrm>
              <a:off x="6798570" y="3222706"/>
              <a:ext cx="278845" cy="109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69A4154-112B-CF9F-CA2B-1D16D0DF70A2}"/>
                </a:ext>
              </a:extLst>
            </p:cNvPr>
            <p:cNvCxnSpPr>
              <a:cxnSpLocks/>
              <a:stCxn id="12" idx="1"/>
              <a:endCxn id="16" idx="3"/>
            </p:cNvCxnSpPr>
            <p:nvPr/>
          </p:nvCxnSpPr>
          <p:spPr>
            <a:xfrm flipH="1">
              <a:off x="5918128" y="4144319"/>
              <a:ext cx="11592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EAA092-89F7-A7C5-5DA7-E9DA16E4CBA8}"/>
                </a:ext>
              </a:extLst>
            </p:cNvPr>
            <p:cNvCxnSpPr>
              <a:cxnSpLocks/>
              <a:stCxn id="15" idx="2"/>
              <a:endCxn id="12" idx="0"/>
            </p:cNvCxnSpPr>
            <p:nvPr/>
          </p:nvCxnSpPr>
          <p:spPr>
            <a:xfrm>
              <a:off x="8126619" y="3479540"/>
              <a:ext cx="0" cy="40903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06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39B9-565E-726E-A42E-6F306527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FACA3D-AB65-3434-EF8E-4B4CC084E0B3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993A46-6A9B-925D-D0FE-C0BEAB24407E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8541E56-1A30-31ED-5DA0-66BCD4035DE8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72593-B802-2AE4-0EB2-8ADB8A21E239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8D1D84-1C83-7F87-97F2-7D3F6EFFC8B2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Desain Environment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9541BA-9F66-4ACF-4706-6C7E461DCA5E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21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CF2DD5E-FB9E-8EDB-1AB2-30771B57A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22EF73-848A-E5BE-62F3-B47E013BF267}"/>
              </a:ext>
            </a:extLst>
          </p:cNvPr>
          <p:cNvSpPr/>
          <p:nvPr/>
        </p:nvSpPr>
        <p:spPr>
          <a:xfrm>
            <a:off x="558793" y="1771249"/>
            <a:ext cx="5430527" cy="37546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File</a:t>
            </a:r>
            <a:endParaRPr lang="en-US" sz="14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MinesweeperEnv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minesweeper_env.py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Konfigurasi</a:t>
            </a: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Papan &amp; </a:t>
            </a:r>
            <a:r>
              <a:rPr lang="en-US" sz="16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endParaRPr lang="en-US" sz="16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 x 6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Pseudo-random number generator (seed = 2004)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One-Hot Encoding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 x 6 x 10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Kanal 0-8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terbuka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dengan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nilai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0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sampai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8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Kanal 9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belum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terbuka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(unknown)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9A4B8-2A36-5848-D0FB-F0F9EF3F0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19" y="1836058"/>
            <a:ext cx="4784217" cy="355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80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662E-7D84-6DCF-7AEF-7F8E59A4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AED101-44A6-9720-B33A-CC6187876409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EAD3B6-1C34-1D36-83B7-209E5EF061A7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BB76FA0-7CA3-9A62-3E22-792E1D21CF13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F7912D-8694-B756-EF32-AE6CAC220598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CE357A-F056-5E2E-BB1D-0592CE2776A0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Desain Environment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63FA34-F661-F6D7-56B9-4FA69E6A6A0A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5C95B686-29C7-7C8D-C90C-A378DD7B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323FF4-1A90-8CD4-F538-B275C94243D4}"/>
              </a:ext>
            </a:extLst>
          </p:cNvPr>
          <p:cNvSpPr/>
          <p:nvPr/>
        </p:nvSpPr>
        <p:spPr>
          <a:xfrm>
            <a:off x="558793" y="1771249"/>
            <a:ext cx="6985007" cy="458561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Struktur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Reward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+36: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Menang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-36: Kalah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+1: Progress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Kondisi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Terminal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Kalah: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memilih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berisi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Menang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Seluruh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tidak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mengandung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telah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berhasil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dibuka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Kondisi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Parsial</a:t>
            </a:r>
            <a:endParaRPr lang="en-US" sz="14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tidak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memiliki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akses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langsung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terhadap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papan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asli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hanya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melihat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representasi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state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bentuk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citra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one-hot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Lokasi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ranjau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serta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nilai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belum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terbuka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tetap</a:t>
            </a: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4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tersembunyi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Mekanisme</a:t>
            </a:r>
            <a:r>
              <a:rPr lang="en-US" sz="14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Tambahan</a:t>
            </a:r>
            <a:endParaRPr lang="en-US" sz="14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Keamanan Klik Pertama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Pembukaan Rekursif Nol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D10B05-55F3-A438-F173-F9F663765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560594"/>
              </p:ext>
            </p:extLst>
          </p:nvPr>
        </p:nvGraphicFramePr>
        <p:xfrm>
          <a:off x="7882128" y="1983740"/>
          <a:ext cx="3026664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815">
                  <a:extLst>
                    <a:ext uri="{9D8B030D-6E8A-4147-A177-3AD203B41FA5}">
                      <a16:colId xmlns:a16="http://schemas.microsoft.com/office/drawing/2014/main" val="677350261"/>
                    </a:ext>
                  </a:extLst>
                </a:gridCol>
                <a:gridCol w="1312849">
                  <a:extLst>
                    <a:ext uri="{9D8B030D-6E8A-4147-A177-3AD203B41FA5}">
                      <a16:colId xmlns:a16="http://schemas.microsoft.com/office/drawing/2014/main" val="1521775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  <a:endParaRPr lang="LID4096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Nilai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37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Ukuran</a:t>
                      </a:r>
                      <a:r>
                        <a:rPr lang="en-US" sz="1400" dirty="0"/>
                        <a:t> Papan</a:t>
                      </a:r>
                      <a:endParaRPr lang="LID4096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 x 6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Jumlah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Ranjau</a:t>
                      </a:r>
                      <a:endParaRPr lang="LID4096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9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Dimensi</a:t>
                      </a:r>
                      <a:r>
                        <a:rPr lang="en-US" sz="1400" dirty="0"/>
                        <a:t> </a:t>
                      </a:r>
                      <a:r>
                        <a:rPr lang="en-US" sz="1400" i="1" dirty="0"/>
                        <a:t>State</a:t>
                      </a:r>
                      <a:endParaRPr lang="LID4096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 x 6 x 10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00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/>
                        <a:t>Action Space</a:t>
                      </a:r>
                      <a:endParaRPr lang="LID4096" sz="1400" i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 </a:t>
                      </a:r>
                      <a:r>
                        <a:rPr lang="en-US" sz="1400" dirty="0" err="1"/>
                        <a:t>Diskrit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54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/>
                        <a:t>Seed Environment </a:t>
                      </a:r>
                      <a:r>
                        <a:rPr lang="en-US" sz="1400" i="0" dirty="0"/>
                        <a:t>(</a:t>
                      </a:r>
                      <a:r>
                        <a:rPr lang="en-US" sz="1400" i="0" dirty="0" err="1"/>
                        <a:t>Pelatihan</a:t>
                      </a:r>
                      <a:r>
                        <a:rPr lang="en-US" sz="1400" i="0" dirty="0"/>
                        <a:t>)</a:t>
                      </a:r>
                      <a:endParaRPr lang="LID4096" sz="1400" i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2004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2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/>
                        <a:t>Seed Environment </a:t>
                      </a:r>
                      <a:r>
                        <a:rPr lang="en-US" sz="1400" i="0" dirty="0"/>
                        <a:t>(</a:t>
                      </a:r>
                      <a:r>
                        <a:rPr lang="en-US" sz="1400" i="0" dirty="0" err="1"/>
                        <a:t>Evaluasi</a:t>
                      </a:r>
                      <a:r>
                        <a:rPr lang="en-US" sz="1400" i="0" dirty="0"/>
                        <a:t>)</a:t>
                      </a:r>
                      <a:endParaRPr lang="LID4096" sz="1400" i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1, 2, 3, 4, 5</a:t>
                      </a:r>
                      <a:endParaRPr lang="LID4096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09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282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3005A-89B6-36D7-7A96-E53A4A03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1ECA8-2F8E-F272-E174-358C217DD8BA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DEA95D-0AC8-243F-3294-9BD8574473AA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55F2E36-4E7E-7F7F-A462-EA8B6EAB748C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33028-9EC3-6252-83DB-991B33C96F6D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B285D0-1AAA-855A-E0CC-33178E94157F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Desain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Algoritma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68FEB-0631-EB71-BA78-B2C0BA7BF9D6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23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D6F439E9-66CC-A9A8-4591-B51AAD114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A2288F-8C2F-33DC-A9EA-12AA8F313ED1}"/>
              </a:ext>
            </a:extLst>
          </p:cNvPr>
          <p:cNvSpPr/>
          <p:nvPr/>
        </p:nvSpPr>
        <p:spPr>
          <a:xfrm>
            <a:off x="558793" y="1771249"/>
            <a:ext cx="5844047" cy="47746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3x Conv2D (32 filter, 3 x 3,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ReLU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&gt; Flatten &gt; 2x Dense (128 neuron,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ReLU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&gt; Dense (36, linear)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Input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6 x 6 x 10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(one-hot encoding)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Output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: Q(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s,a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untuk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36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1200" b="1" dirty="0">
                <a:solidFill>
                  <a:srgbClr val="F9FAFB"/>
                </a:solidFill>
              </a:rPr>
              <a:t>ε‑</a:t>
            </a:r>
            <a:r>
              <a:rPr lang="en-ID" sz="1200" b="1" dirty="0">
                <a:solidFill>
                  <a:srgbClr val="F9FAFB"/>
                </a:solidFill>
              </a:rPr>
              <a:t>greedy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0.95 &gt; 0.02 (</a:t>
            </a:r>
            <a:r>
              <a:rPr lang="en-ID" sz="1200" i="1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decay</a:t>
            </a:r>
            <a:r>
              <a:rPr lang="en-ID" sz="12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0.99995 per </a:t>
            </a:r>
            <a:r>
              <a:rPr lang="en-ID" sz="12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langkah</a:t>
            </a:r>
            <a:r>
              <a:rPr lang="en-ID" sz="12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 </a:t>
            </a:r>
            <a:r>
              <a:rPr lang="en-ID" sz="1200" dirty="0" err="1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pelatihan</a:t>
            </a:r>
            <a:r>
              <a:rPr lang="en-ID" sz="1200" dirty="0">
                <a:ln w="0"/>
                <a:solidFill>
                  <a:srgbClr val="F9FAFB"/>
                </a:solidFill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Experience Replay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Buffer 300,000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transisi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,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dimulai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setelah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10,000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transisi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terpenuhi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Batch 128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diambil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acak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&gt;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memutus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korelasi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temporal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Target Network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Salinan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periodik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setiap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1,000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langkah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&gt; target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stabil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endParaRPr lang="en-US" sz="12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Optimizer Adam (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learning rate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= 0.001)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Loss MSE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Update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setiap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4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langkah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environment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8107FE-7CDE-F57F-1FCF-E746BE0D9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394" y="2434927"/>
            <a:ext cx="5230367" cy="212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53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ED9D-CE2D-2C85-C478-B6A73706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202C92-2E68-5FBA-9307-BCF39191D65D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DBAE5D-BEEB-2A67-0102-CCDFEA632D09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A019E8D-DCDC-1C2C-763C-197F08A845F8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122DE-DC16-C492-8079-B06E2B8E5386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5EDD2-3C17-81FA-D75A-6D68797A557B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Ringkasan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DQN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5E7C45-5352-6A26-8878-2D6736114C70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6025EFD-B194-A554-FAE8-74F2DE89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7347482-2C0F-7E0C-72CD-54C5DEA00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816236"/>
                  </p:ext>
                </p:extLst>
              </p:nvPr>
            </p:nvGraphicFramePr>
            <p:xfrm>
              <a:off x="3182104" y="1360281"/>
              <a:ext cx="5827781" cy="496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360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424180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Parameter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Nilai/</a:t>
                          </a:r>
                          <a:r>
                            <a:rPr lang="en-US" sz="1100" dirty="0" err="1"/>
                            <a:t>Deskripsi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Arsitektur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1" dirty="0" err="1"/>
                            <a:t>Jaringan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520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Arsitektur</a:t>
                          </a:r>
                          <a:r>
                            <a:rPr lang="en-US" sz="1100" dirty="0"/>
                            <a:t> CNN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 lapis </a:t>
                          </a:r>
                          <a:r>
                            <a:rPr lang="en-US" sz="1100" dirty="0" err="1"/>
                            <a:t>konvolusi</a:t>
                          </a:r>
                          <a:r>
                            <a:rPr lang="en-US" sz="1100" dirty="0"/>
                            <a:t> (32 filter, 3 x 3,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Fully Connected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 lapis (128 neuron,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550058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 err="1"/>
                            <a:t>Dimensi</a:t>
                          </a:r>
                          <a:r>
                            <a:rPr lang="en-US" sz="1100" i="0" u="none" dirty="0"/>
                            <a:t> </a:t>
                          </a:r>
                          <a:r>
                            <a:rPr lang="en-US" sz="1100" i="0" u="none" dirty="0" err="1"/>
                            <a:t>Masukan</a:t>
                          </a:r>
                          <a:r>
                            <a:rPr lang="en-US" sz="1100" i="0" u="none" dirty="0"/>
                            <a:t>/</a:t>
                          </a:r>
                          <a:r>
                            <a:rPr lang="en-US" sz="1100" i="0" u="none" dirty="0" err="1"/>
                            <a:t>Keluaran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6 x 6 x 10 / 36 (linear)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543986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Optimasi</a:t>
                          </a:r>
                          <a:r>
                            <a:rPr lang="en-US" sz="1100" i="1" dirty="0"/>
                            <a:t> &amp; </a:t>
                          </a:r>
                          <a:r>
                            <a:rPr lang="en-US" sz="1100" i="1" dirty="0" err="1"/>
                            <a:t>Pelatihan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32064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Optimizer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Adam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=0.001,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90879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Loss Function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MSE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01791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Batch Size /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oMath>
                          </a14:m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128/0.9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30679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Frekuensi Pelatihan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Setiap</a:t>
                          </a:r>
                          <a:r>
                            <a:rPr lang="en-US" sz="1100" dirty="0"/>
                            <a:t> 4 </a:t>
                          </a:r>
                          <a:r>
                            <a:rPr lang="en-US" sz="1100" dirty="0" err="1"/>
                            <a:t>langkah</a:t>
                          </a:r>
                          <a:r>
                            <a:rPr lang="en-US" sz="1100" dirty="0"/>
                            <a:t> </a:t>
                          </a:r>
                          <a:r>
                            <a:rPr lang="en-US" sz="1100" dirty="0" err="1"/>
                            <a:t>interaksi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040485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Experience Replay &amp; Target Network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8221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Kapasitas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Buffer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300,000 (</a:t>
                          </a:r>
                          <a:r>
                            <a:rPr lang="en-US" sz="1100" i="0" dirty="0" err="1"/>
                            <a:t>mulai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r>
                            <a:rPr lang="en-US" sz="1100" i="0" dirty="0"/>
                            <a:t> pada 10,000)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77041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Target Update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1,000 </a:t>
                          </a:r>
                          <a:r>
                            <a:rPr lang="en-US" sz="1100" i="0" dirty="0" err="1"/>
                            <a:t>langkah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429991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dirty="0" err="1">
                              <a:solidFill>
                                <a:schemeClr val="tx1"/>
                              </a:solidFill>
                            </a:rPr>
                            <a:t>Eksplorasi</a:t>
                          </a:r>
                          <a:r>
                            <a:rPr lang="en-US" sz="110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l-GR" sz="1100" b="0" i="1" dirty="0">
                              <a:solidFill>
                                <a:schemeClr val="tx1"/>
                              </a:solidFill>
                            </a:rPr>
                            <a:t>ε‑</a:t>
                          </a:r>
                          <a:r>
                            <a:rPr lang="en-ID" sz="1100" b="0" i="1" dirty="0">
                              <a:solidFill>
                                <a:schemeClr val="tx1"/>
                              </a:solidFill>
                            </a:rPr>
                            <a:t>greedy</a:t>
                          </a:r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151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l-GR" sz="1100" b="0" i="1" dirty="0">
                              <a:solidFill>
                                <a:schemeClr val="tx1"/>
                              </a:solidFill>
                            </a:rPr>
                            <a:t>ε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Jadwal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0.95 &gt; 0.02 </a:t>
                          </a:r>
                          <a:r>
                            <a:rPr lang="en-US" sz="1100" i="1" dirty="0"/>
                            <a:t>(exponential decay)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Decay Factor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0.99995 / training steps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664601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Konfigurasi</a:t>
                          </a:r>
                          <a:r>
                            <a:rPr lang="en-US" sz="1100" i="1" dirty="0"/>
                            <a:t> Umum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175907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Total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80,000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532659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Evaluasi </a:t>
                          </a:r>
                          <a:r>
                            <a:rPr lang="en-US" sz="1100" i="0" dirty="0" err="1"/>
                            <a:t>Berkala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1,000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4550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Random Seed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2004 (env), 123 (model)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29098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7347482-2C0F-7E0C-72CD-54C5DEA00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816236"/>
                  </p:ext>
                </p:extLst>
              </p:nvPr>
            </p:nvGraphicFramePr>
            <p:xfrm>
              <a:off x="3182104" y="1360281"/>
              <a:ext cx="5827781" cy="496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360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424180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Parameter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Nilai/</a:t>
                          </a:r>
                          <a:r>
                            <a:rPr lang="en-US" sz="1100" dirty="0" err="1"/>
                            <a:t>Deskripsi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Arsitektur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1" dirty="0" err="1"/>
                            <a:t>Jaringan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520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Arsitektur</a:t>
                          </a:r>
                          <a:r>
                            <a:rPr lang="en-US" sz="1100" dirty="0"/>
                            <a:t> CNN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 lapis </a:t>
                          </a:r>
                          <a:r>
                            <a:rPr lang="en-US" sz="1100" dirty="0" err="1"/>
                            <a:t>konvolusi</a:t>
                          </a:r>
                          <a:r>
                            <a:rPr lang="en-US" sz="1100" dirty="0"/>
                            <a:t> (32 filter, 3 x 3,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Fully Connected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 lapis (128 neuron,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5500581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 err="1"/>
                            <a:t>Dimensi</a:t>
                          </a:r>
                          <a:r>
                            <a:rPr lang="en-US" sz="1100" i="0" u="none" dirty="0"/>
                            <a:t> </a:t>
                          </a:r>
                          <a:r>
                            <a:rPr lang="en-US" sz="1100" i="0" u="none" dirty="0" err="1"/>
                            <a:t>Masukan</a:t>
                          </a:r>
                          <a:r>
                            <a:rPr lang="en-US" sz="1100" i="0" u="none" dirty="0"/>
                            <a:t>/</a:t>
                          </a:r>
                          <a:r>
                            <a:rPr lang="en-US" sz="1100" i="0" u="none" dirty="0" err="1"/>
                            <a:t>Keluaran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6 x 6 x 10 / 36 (linear)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543986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Optimasi</a:t>
                          </a:r>
                          <a:r>
                            <a:rPr lang="en-US" sz="1100" i="1" dirty="0"/>
                            <a:t> &amp; </a:t>
                          </a:r>
                          <a:r>
                            <a:rPr lang="en-US" sz="1100" i="1" dirty="0" err="1"/>
                            <a:t>Pelatihan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32064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Optimizer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70463" t="-617500" r="-890" b="-134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90879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Loss Function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MSE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017911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53" t="-800000" r="-143544" b="-1109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128/0.9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30679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Frekuensi Pelatihan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Setiap</a:t>
                          </a:r>
                          <a:r>
                            <a:rPr lang="en-US" sz="1100" dirty="0"/>
                            <a:t> 4 </a:t>
                          </a:r>
                          <a:r>
                            <a:rPr lang="en-US" sz="1100" dirty="0" err="1"/>
                            <a:t>langkah</a:t>
                          </a:r>
                          <a:r>
                            <a:rPr lang="en-US" sz="1100" dirty="0"/>
                            <a:t> </a:t>
                          </a:r>
                          <a:r>
                            <a:rPr lang="en-US" sz="1100" dirty="0" err="1"/>
                            <a:t>interaksi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040485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Experience Replay &amp; Target Network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8221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Kapasitas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Buffer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300,000 (</a:t>
                          </a:r>
                          <a:r>
                            <a:rPr lang="en-US" sz="1100" i="0" dirty="0" err="1"/>
                            <a:t>mulai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r>
                            <a:rPr lang="en-US" sz="1100" i="0" dirty="0"/>
                            <a:t> pada 10,000)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77041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Target Update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1,000 </a:t>
                          </a:r>
                          <a:r>
                            <a:rPr lang="en-US" sz="1100" i="0" dirty="0" err="1"/>
                            <a:t>langkah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4429991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dirty="0" err="1">
                              <a:solidFill>
                                <a:schemeClr val="tx1"/>
                              </a:solidFill>
                            </a:rPr>
                            <a:t>Eksplorasi</a:t>
                          </a:r>
                          <a:r>
                            <a:rPr lang="en-US" sz="110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l-GR" sz="1100" b="0" i="1" dirty="0">
                              <a:solidFill>
                                <a:schemeClr val="tx1"/>
                              </a:solidFill>
                            </a:rPr>
                            <a:t>ε‑</a:t>
                          </a:r>
                          <a:r>
                            <a:rPr lang="en-ID" sz="1100" b="0" i="1" dirty="0">
                              <a:solidFill>
                                <a:schemeClr val="tx1"/>
                              </a:solidFill>
                            </a:rPr>
                            <a:t>greedy</a:t>
                          </a:r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151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l-GR" sz="1100" b="0" i="1" dirty="0">
                              <a:solidFill>
                                <a:schemeClr val="tx1"/>
                              </a:solidFill>
                            </a:rPr>
                            <a:t>ε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Jadwal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0.95 &gt; 0.02 </a:t>
                          </a:r>
                          <a:r>
                            <a:rPr lang="en-US" sz="1100" i="1" dirty="0"/>
                            <a:t>(exponential decay)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Decay Factor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0.99995 / training steps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664601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Konfigurasi</a:t>
                          </a:r>
                          <a:r>
                            <a:rPr lang="en-US" sz="1100" i="1" dirty="0"/>
                            <a:t> Umum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175907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Total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80,000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532659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Evaluasi </a:t>
                          </a:r>
                          <a:r>
                            <a:rPr lang="en-US" sz="1100" i="0" dirty="0" err="1"/>
                            <a:t>Berkala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1,000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04550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Random Seed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2004 (env), 123 (model)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2909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5551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1C9A-B668-BB69-DAC3-6C3EE435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495D85-B34C-0359-8E75-A60F32F6EBE6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B9A740-79B5-334E-6A96-2B6EB4652802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0ADDAB1-2DAC-131C-578A-459DD34ABB4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EF6C5-9606-0B03-FED4-E25D1D3F0BD0}"/>
              </a:ext>
            </a:extLst>
          </p:cNvPr>
          <p:cNvSpPr/>
          <p:nvPr/>
        </p:nvSpPr>
        <p:spPr>
          <a:xfrm>
            <a:off x="8266546" y="315636"/>
            <a:ext cx="3852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TINJAUAN PUSTAKA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E3BA99-4207-5922-37D2-0750DA043DFE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DQN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045C73-CAF0-2783-2AA0-5D62392C6BE9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5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4FB39554-40FB-5E1A-A13B-5A1A26FEB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B0E15941-9F09-7C35-9645-B2ECFA8AF162}"/>
              </a:ext>
            </a:extLst>
          </p:cNvPr>
          <p:cNvGrpSpPr/>
          <p:nvPr/>
        </p:nvGrpSpPr>
        <p:grpSpPr>
          <a:xfrm>
            <a:off x="1634112" y="2182094"/>
            <a:ext cx="9161616" cy="2869000"/>
            <a:chOff x="1541441" y="2247576"/>
            <a:chExt cx="9161616" cy="2869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74CD2AE-83FB-C284-8EB5-73C3D61F1E89}"/>
                    </a:ext>
                  </a:extLst>
                </p:cNvPr>
                <p:cNvSpPr/>
                <p:nvPr/>
              </p:nvSpPr>
              <p:spPr>
                <a:xfrm>
                  <a:off x="7574395" y="2549901"/>
                  <a:ext cx="1145316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Feedback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done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74CD2AE-83FB-C284-8EB5-73C3D61F1E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4395" y="2549901"/>
                  <a:ext cx="1145316" cy="5114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93DA8F1-0224-D7E3-CF32-977AF26BAB33}"/>
                    </a:ext>
                  </a:extLst>
                </p:cNvPr>
                <p:cNvSpPr/>
                <p:nvPr/>
              </p:nvSpPr>
              <p:spPr>
                <a:xfrm>
                  <a:off x="9023950" y="2549901"/>
                  <a:ext cx="1679107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Replay Buffer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done</m:t>
                            </m:r>
                          </m:e>
                        </m:d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93DA8F1-0224-D7E3-CF32-977AF26BA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3950" y="2549901"/>
                  <a:ext cx="1679107" cy="5114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C9C51A-30CD-25D5-28C3-E7E70EF257DE}"/>
                </a:ext>
              </a:extLst>
            </p:cNvPr>
            <p:cNvSpPr/>
            <p:nvPr/>
          </p:nvSpPr>
          <p:spPr>
            <a:xfrm>
              <a:off x="9214648" y="3507002"/>
              <a:ext cx="1297709" cy="504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Sample Batch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FC9C699-6D6C-2F69-5B10-110BB3B45BF5}"/>
                    </a:ext>
                  </a:extLst>
                </p:cNvPr>
                <p:cNvSpPr/>
                <p:nvPr/>
              </p:nvSpPr>
              <p:spPr>
                <a:xfrm>
                  <a:off x="6248789" y="3507240"/>
                  <a:ext cx="2475346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Target 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(Target Network)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FC9C699-6D6C-2F69-5B10-110BB3B45B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789" y="3507240"/>
                  <a:ext cx="2475346" cy="511486"/>
                </a:xfrm>
                <a:prstGeom prst="rect">
                  <a:avLst/>
                </a:prstGeom>
                <a:blipFill>
                  <a:blip r:embed="rId6"/>
                  <a:stretch>
                    <a:fillRect t="-241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A340798-FA79-3394-3D3D-7B425C69A66A}"/>
                    </a:ext>
                  </a:extLst>
                </p:cNvPr>
                <p:cNvSpPr/>
                <p:nvPr/>
              </p:nvSpPr>
              <p:spPr>
                <a:xfrm>
                  <a:off x="4277193" y="3500515"/>
                  <a:ext cx="1671781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Prediction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A340798-FA79-3394-3D3D-7B425C69A6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7193" y="3500515"/>
                  <a:ext cx="1671781" cy="51148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E0CEA0C-CB2B-BB35-E52C-5D9317B4207B}"/>
                </a:ext>
              </a:extLst>
            </p:cNvPr>
            <p:cNvGrpSpPr/>
            <p:nvPr/>
          </p:nvGrpSpPr>
          <p:grpSpPr>
            <a:xfrm>
              <a:off x="1949655" y="2247576"/>
              <a:ext cx="1286762" cy="813811"/>
              <a:chOff x="5736638" y="3013531"/>
              <a:chExt cx="1286762" cy="8138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CC0C7606-9258-6CA4-243F-FA67FF0AB6F8}"/>
                      </a:ext>
                    </a:extLst>
                  </p:cNvPr>
                  <p:cNvSpPr/>
                  <p:nvPr/>
                </p:nvSpPr>
                <p:spPr>
                  <a:xfrm>
                    <a:off x="5874328" y="3315856"/>
                    <a:ext cx="1011384" cy="51148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Observation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LID4096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CC0C7606-9258-6CA4-243F-FA67FF0AB6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4328" y="3315856"/>
                    <a:ext cx="1011384" cy="51148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6E9194-2CE4-246D-811B-901EE1EE4223}"/>
                  </a:ext>
                </a:extLst>
              </p:cNvPr>
              <p:cNvSpPr/>
              <p:nvPr/>
            </p:nvSpPr>
            <p:spPr>
              <a:xfrm>
                <a:off x="5736638" y="3013531"/>
                <a:ext cx="1286762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200" i="1" cap="none" spc="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Input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FE58342C-331B-B28F-B9E2-A3394B05BB14}"/>
                    </a:ext>
                  </a:extLst>
                </p:cNvPr>
                <p:cNvSpPr/>
                <p:nvPr/>
              </p:nvSpPr>
              <p:spPr>
                <a:xfrm>
                  <a:off x="5475985" y="2553865"/>
                  <a:ext cx="1819564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𝒜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FE58342C-331B-B28F-B9E2-A3394B05BB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5985" y="2553865"/>
                  <a:ext cx="1819564" cy="51148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E99FD51-6931-457A-F612-925F1B3B44EF}"/>
                    </a:ext>
                  </a:extLst>
                </p:cNvPr>
                <p:cNvSpPr/>
                <p:nvPr/>
              </p:nvSpPr>
              <p:spPr>
                <a:xfrm>
                  <a:off x="1541441" y="3500515"/>
                  <a:ext cx="2435937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Loss Function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E99FD51-6931-457A-F612-925F1B3B44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1441" y="3500515"/>
                  <a:ext cx="2435937" cy="51148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3CE925C-2DA9-7230-727A-4C56ED8DBA43}"/>
                    </a:ext>
                  </a:extLst>
                </p:cNvPr>
                <p:cNvSpPr/>
                <p:nvPr/>
              </p:nvSpPr>
              <p:spPr>
                <a:xfrm>
                  <a:off x="1884258" y="4445825"/>
                  <a:ext cx="1750302" cy="6707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Update (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Adam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̂</m:t>
                                </m:r>
                              </m:e>
                            </m:rad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3CE925C-2DA9-7230-727A-4C56ED8DBA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258" y="4445825"/>
                  <a:ext cx="1750302" cy="6707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913154D-8050-E016-2697-316F39D7EF18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H="1">
              <a:off x="9863503" y="3061387"/>
              <a:ext cx="1" cy="44561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D7E7B6F-842F-9F4E-30A6-9BD642CD3CDD}"/>
                </a:ext>
              </a:extLst>
            </p:cNvPr>
            <p:cNvSpPr/>
            <p:nvPr/>
          </p:nvSpPr>
          <p:spPr>
            <a:xfrm>
              <a:off x="1584443" y="3998080"/>
              <a:ext cx="128676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i="1" cap="none" spc="0" dirty="0">
                  <a:ln w="0"/>
                  <a:solidFill>
                    <a:schemeClr val="bg1"/>
                  </a:solidFill>
                  <a:cs typeface="Arial" panose="020B0604020202020204" pitchFamily="34" charset="0"/>
                </a:rPr>
                <a:t>Back Propagation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8" name="Rectangle 11277">
                  <a:extLst>
                    <a:ext uri="{FF2B5EF4-FFF2-40B4-BE49-F238E27FC236}">
                      <a16:creationId xmlns:a16="http://schemas.microsoft.com/office/drawing/2014/main" id="{7D1455B8-945D-3A52-C634-60F9ABC6F634}"/>
                    </a:ext>
                  </a:extLst>
                </p:cNvPr>
                <p:cNvSpPr/>
                <p:nvPr/>
              </p:nvSpPr>
              <p:spPr>
                <a:xfrm>
                  <a:off x="3377575" y="2552774"/>
                  <a:ext cx="1819564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Forward Propagation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78" name="Rectangle 11277">
                  <a:extLst>
                    <a:ext uri="{FF2B5EF4-FFF2-40B4-BE49-F238E27FC236}">
                      <a16:creationId xmlns:a16="http://schemas.microsoft.com/office/drawing/2014/main" id="{7D1455B8-945D-3A52-C634-60F9ABC6F6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7575" y="2552774"/>
                  <a:ext cx="1819564" cy="51148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81" name="Rectangle 11280">
              <a:extLst>
                <a:ext uri="{FF2B5EF4-FFF2-40B4-BE49-F238E27FC236}">
                  <a16:creationId xmlns:a16="http://schemas.microsoft.com/office/drawing/2014/main" id="{A8D32F35-AF3B-BEB8-9D47-1AF4B2CCF693}"/>
                </a:ext>
              </a:extLst>
            </p:cNvPr>
            <p:cNvSpPr/>
            <p:nvPr/>
          </p:nvSpPr>
          <p:spPr>
            <a:xfrm>
              <a:off x="9910644" y="3154105"/>
              <a:ext cx="792413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i="1" cap="none" spc="0" dirty="0">
                  <a:ln w="0"/>
                  <a:solidFill>
                    <a:schemeClr val="bg1"/>
                  </a:solidFill>
                  <a:cs typeface="Arial" panose="020B0604020202020204" pitchFamily="34" charset="0"/>
                </a:rPr>
                <a:t>Learning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F1108F4-DB25-04D5-458D-C60A748496E7}"/>
                </a:ext>
              </a:extLst>
            </p:cNvPr>
            <p:cNvCxnSpPr>
              <a:cxnSpLocks/>
              <a:stCxn id="11" idx="3"/>
              <a:endCxn id="11278" idx="1"/>
            </p:cNvCxnSpPr>
            <p:nvPr/>
          </p:nvCxnSpPr>
          <p:spPr>
            <a:xfrm>
              <a:off x="3098729" y="2805644"/>
              <a:ext cx="278846" cy="287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0957FD7-F4D8-E965-2005-2990C570EC90}"/>
                </a:ext>
              </a:extLst>
            </p:cNvPr>
            <p:cNvCxnSpPr>
              <a:cxnSpLocks/>
              <a:stCxn id="11278" idx="3"/>
              <a:endCxn id="12" idx="1"/>
            </p:cNvCxnSpPr>
            <p:nvPr/>
          </p:nvCxnSpPr>
          <p:spPr>
            <a:xfrm>
              <a:off x="5197139" y="2808517"/>
              <a:ext cx="278846" cy="109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3AE9504-5F0F-EFA1-959D-7F50B7784A15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 flipV="1">
              <a:off x="7295549" y="2805644"/>
              <a:ext cx="278846" cy="396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C1E9543-8CBE-F82E-DF9F-9E7D0AB85F4D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8719711" y="2805644"/>
              <a:ext cx="304239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AD011DB-0B33-3F41-5379-42C6B6901A59}"/>
                </a:ext>
              </a:extLst>
            </p:cNvPr>
            <p:cNvCxnSpPr>
              <a:cxnSpLocks/>
              <a:stCxn id="16" idx="1"/>
              <a:endCxn id="19" idx="3"/>
            </p:cNvCxnSpPr>
            <p:nvPr/>
          </p:nvCxnSpPr>
          <p:spPr>
            <a:xfrm flipH="1">
              <a:off x="8724135" y="3759502"/>
              <a:ext cx="490513" cy="348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E6674D0-59CE-2CEF-23BE-411AFC0BE94E}"/>
                </a:ext>
              </a:extLst>
            </p:cNvPr>
            <p:cNvCxnSpPr>
              <a:cxnSpLocks/>
              <a:stCxn id="19" idx="1"/>
              <a:endCxn id="20" idx="3"/>
            </p:cNvCxnSpPr>
            <p:nvPr/>
          </p:nvCxnSpPr>
          <p:spPr>
            <a:xfrm flipH="1" flipV="1">
              <a:off x="5948974" y="3756258"/>
              <a:ext cx="299815" cy="672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2A569C3-354B-9E16-58B0-C756E2CD3A28}"/>
                </a:ext>
              </a:extLst>
            </p:cNvPr>
            <p:cNvCxnSpPr>
              <a:cxnSpLocks/>
              <a:stCxn id="20" idx="1"/>
              <a:endCxn id="23" idx="3"/>
            </p:cNvCxnSpPr>
            <p:nvPr/>
          </p:nvCxnSpPr>
          <p:spPr>
            <a:xfrm flipH="1">
              <a:off x="3977378" y="3756258"/>
              <a:ext cx="2998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E26EF70-688C-240B-6118-CF9E44F8A6A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2759409" y="4012001"/>
              <a:ext cx="1" cy="43382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6515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FAEC-CBDC-7D7E-DE45-081744D8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D18D8B-A445-EA25-02A0-5F6693BD86DD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17309B-439D-32BB-FA91-3D4FB2DB64F4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290D67C-5E88-C9B2-AE49-2E0BAE61A593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271EB-DB70-7BA7-B6CB-77491088DA93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FA7D30-8CBA-99B6-DDFB-1F7B64C46A0E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Desain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Algoritma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51547-8E9C-C05F-6D50-8077557ACC6E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26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5BE08E1D-4CFF-ED25-2AA1-63E52ED1A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DA8034-3F52-8068-4A95-6BDBCC97FE5B}"/>
                  </a:ext>
                </a:extLst>
              </p:cNvPr>
              <p:cNvSpPr/>
              <p:nvPr/>
            </p:nvSpPr>
            <p:spPr>
              <a:xfrm>
                <a:off x="558793" y="1771249"/>
                <a:ext cx="5513950" cy="45979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2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CAE-DQN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CNN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identik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DQN,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namun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dua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output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d>
                      <m:d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= 36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action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  <m:d>
                      <m:dPr>
                        <m:ctrlPr>
                          <a:rPr lang="en-US" sz="120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(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vektor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fitur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laten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dari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lapisan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embedding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Eksplorasi (UCB)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d>
                      <m:dPr>
                        <m:ctrlP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ln w="0"/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ln w="0"/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200" i="1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  <m:d>
                          <m:dPr>
                            <m:ctrlP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</m:d>
                      </m:e>
                    </m:rad>
                  </m:oMath>
                </a14:m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λI</m:t>
                    </m:r>
                  </m:oMath>
                </a14:m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</m:t>
                    </m:r>
                    <m:r>
                      <a:rPr lang="en-US" sz="1200" b="0" i="0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=1.0</m:t>
                    </m:r>
                  </m:oMath>
                </a14:m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),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diperbarui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secara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online 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via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Sherman-Morrison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dinormalisasi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dengan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algoritma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Welford</a:t>
                </a:r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Pemilihan</a:t>
                </a:r>
                <a:r>
                  <a:rPr lang="en-US" sz="1200" b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b="1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Action</a:t>
                </a:r>
                <a:endParaRPr lang="en-US" sz="1200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𝑎𝑟𝑔𝑚𝑎</m:t>
                    </m:r>
                    <m:sSub>
                      <m:sSub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sub>
                    </m:sSub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d>
                      <m:d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d>
                      <m:d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 </m:t>
                    </m:r>
                  </m:oMath>
                </a14:m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Pelatihan</a:t>
                </a:r>
                <a:endParaRPr lang="en-US" sz="1200" b="1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Bonus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ditambahkan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reward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sebelum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disimpan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ke</a:t>
                </a: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1200" i="1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replay buffer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cs typeface="Arial" panose="020B0604020202020204" pitchFamily="34" charset="0"/>
                  </a:rPr>
                  <a:t>Target: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en-US" sz="1200" i="1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b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′)+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  <m:r>
                      <a:rPr lang="en-US" sz="1200" b="0" i="1" smtClean="0">
                        <a:ln w="0"/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𝑚𝑎</m:t>
                    </m:r>
                    <m:sSub>
                      <m:sSub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𝑡𝑎𝑟𝑔𝑒𝑡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smtClean="0">
                            <a:ln w="0"/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b="0" i="1" smtClean="0">
                                <a:ln w="0"/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400" dirty="0">
                  <a:ln w="0"/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DA8034-3F52-8068-4A95-6BDBCC97F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3" y="1771249"/>
                <a:ext cx="5513950" cy="4597925"/>
              </a:xfrm>
              <a:prstGeom prst="rect">
                <a:avLst/>
              </a:prstGeom>
              <a:blipFill>
                <a:blip r:embed="rId4"/>
                <a:stretch>
                  <a:fillRect l="-1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878C6E8-5915-EF9E-476C-44BBC9A4A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743" y="2361380"/>
            <a:ext cx="5560464" cy="225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6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2CA8-8C8F-E668-48D1-3079CC36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1B4A29-8F54-6AE5-D9AC-1DA3B619F577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B95508-BBD1-6D5C-6E76-AA2D6351FABE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68AEABC-625C-76DC-6AD8-70A65FB40DC0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14605-4919-0907-783A-646F8759F545}"/>
              </a:ext>
            </a:extLst>
          </p:cNvPr>
          <p:cNvSpPr/>
          <p:nvPr/>
        </p:nvSpPr>
        <p:spPr>
          <a:xfrm>
            <a:off x="4562856" y="315636"/>
            <a:ext cx="75562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58FF80-3670-8F3D-6CB4-6DED7D2122B4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Ringkasan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CAE-DQN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CD1552-2C79-66AA-3CCA-2693F39123B0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7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40F0705-AD8D-5795-E9AF-7865B1027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C49F488-83EF-2D9F-F42F-6B0DA69CD3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4854431"/>
                  </p:ext>
                </p:extLst>
              </p:nvPr>
            </p:nvGraphicFramePr>
            <p:xfrm>
              <a:off x="3182104" y="1583082"/>
              <a:ext cx="5827781" cy="4218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360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424180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Parameter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Nilai/</a:t>
                          </a:r>
                          <a:r>
                            <a:rPr lang="en-US" sz="1100" dirty="0" err="1"/>
                            <a:t>Deskripsi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Arsitektur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1" dirty="0" err="1"/>
                            <a:t>Jaringan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520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Arsitektur</a:t>
                          </a:r>
                          <a:r>
                            <a:rPr lang="en-US" sz="1100" dirty="0"/>
                            <a:t> CNN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 lapis </a:t>
                          </a:r>
                          <a:r>
                            <a:rPr lang="en-US" sz="1100" dirty="0" err="1"/>
                            <a:t>konvolusi</a:t>
                          </a:r>
                          <a:r>
                            <a:rPr lang="en-US" sz="1100" dirty="0"/>
                            <a:t> (32 filter, 3 x 3,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Fully Connected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 lapis (128 neuron,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550058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 err="1"/>
                            <a:t>Dimensi</a:t>
                          </a:r>
                          <a:r>
                            <a:rPr lang="en-US" sz="1100" i="0" u="none" dirty="0"/>
                            <a:t> </a:t>
                          </a:r>
                          <a:r>
                            <a:rPr lang="en-US" sz="1100" i="0" u="none" dirty="0" err="1"/>
                            <a:t>Masukan</a:t>
                          </a:r>
                          <a:r>
                            <a:rPr lang="en-US" sz="1100" i="0" u="none" dirty="0"/>
                            <a:t>/</a:t>
                          </a:r>
                          <a:r>
                            <a:rPr lang="en-US" sz="1100" i="0" u="none" dirty="0" err="1"/>
                            <a:t>Keluaran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6 x 6 x 10 / 36 (linear) + 128 </a:t>
                          </a:r>
                          <a:r>
                            <a:rPr lang="en-US" sz="1100" i="1" dirty="0"/>
                            <a:t>(embedding)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543986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Optimasi</a:t>
                          </a:r>
                          <a:r>
                            <a:rPr lang="en-US" sz="1100" i="1" dirty="0"/>
                            <a:t> &amp; </a:t>
                          </a:r>
                          <a:r>
                            <a:rPr lang="en-US" sz="1100" i="1" dirty="0" err="1"/>
                            <a:t>Pelatihan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320640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90879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Experience Replay &amp; Target Network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82215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770410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dirty="0" err="1">
                              <a:solidFill>
                                <a:schemeClr val="tx1"/>
                              </a:solidFill>
                            </a:rPr>
                            <a:t>Eksplorasi</a:t>
                          </a:r>
                          <a:r>
                            <a:rPr lang="en-US" sz="110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</a:rPr>
                            <a:t>CAE</a:t>
                          </a:r>
                          <a:endParaRPr lang="en-ID" sz="11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1510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Koefisien </a:t>
                          </a:r>
                          <a:r>
                            <a:rPr lang="en-US" sz="1100" b="0" i="0" dirty="0" err="1">
                              <a:solidFill>
                                <a:schemeClr val="tx1"/>
                              </a:solidFill>
                            </a:rPr>
                            <a:t>Eksplorasi</a:t>
                          </a:r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0.1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Regularisasi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Ridge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oMath>
                          </a14:m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1.0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66460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Pembaruan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Gram matrix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Sherman-Morrison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langkah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75297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Normalisasi</a:t>
                          </a:r>
                          <a:r>
                            <a:rPr lang="en-US" sz="1100" i="0" dirty="0"/>
                            <a:t> Bonus</a:t>
                          </a: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Welford (running mean &amp; variance)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56638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Rekalkulasi</a:t>
                          </a:r>
                          <a:r>
                            <a:rPr lang="en-US" sz="1100" i="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100" i="0" dirty="0"/>
                            <a:t> Penuh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10,000 </a:t>
                          </a:r>
                          <a:r>
                            <a:rPr lang="en-US" sz="1100" i="0" dirty="0" err="1"/>
                            <a:t>langkah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2050923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Konfigurasi</a:t>
                          </a:r>
                          <a:r>
                            <a:rPr lang="en-US" sz="1100" i="1" dirty="0"/>
                            <a:t> Umum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175907"/>
                      </a:ext>
                    </a:extLst>
                  </a:tr>
                  <a:tr h="242295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532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C49F488-83EF-2D9F-F42F-6B0DA69CD3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4854431"/>
                  </p:ext>
                </p:extLst>
              </p:nvPr>
            </p:nvGraphicFramePr>
            <p:xfrm>
              <a:off x="3182104" y="1583082"/>
              <a:ext cx="5827781" cy="4218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0360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424180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Parameter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Nilai/</a:t>
                          </a:r>
                          <a:r>
                            <a:rPr lang="en-US" sz="1100" dirty="0" err="1"/>
                            <a:t>Deskripsi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Arsitektur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1" dirty="0" err="1"/>
                            <a:t>Jaringan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520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dirty="0" err="1"/>
                            <a:t>Arsitektur</a:t>
                          </a:r>
                          <a:r>
                            <a:rPr lang="en-US" sz="1100" dirty="0"/>
                            <a:t> CNN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3 lapis </a:t>
                          </a:r>
                          <a:r>
                            <a:rPr lang="en-US" sz="1100" dirty="0" err="1"/>
                            <a:t>konvolusi</a:t>
                          </a:r>
                          <a:r>
                            <a:rPr lang="en-US" sz="1100" dirty="0"/>
                            <a:t> (32 filter, 3 x 3,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Fully Connected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2 lapis (128 neuron, </a:t>
                          </a:r>
                          <a:r>
                            <a:rPr lang="en-US" sz="1100" dirty="0" err="1"/>
                            <a:t>ReLU</a:t>
                          </a:r>
                          <a:r>
                            <a:rPr lang="en-US" sz="1100" dirty="0"/>
                            <a:t>)</a:t>
                          </a:r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5500581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 err="1"/>
                            <a:t>Dimensi</a:t>
                          </a:r>
                          <a:r>
                            <a:rPr lang="en-US" sz="1100" i="0" u="none" dirty="0"/>
                            <a:t> </a:t>
                          </a:r>
                          <a:r>
                            <a:rPr lang="en-US" sz="1100" i="0" u="none" dirty="0" err="1"/>
                            <a:t>Masukan</a:t>
                          </a:r>
                          <a:r>
                            <a:rPr lang="en-US" sz="1100" i="0" u="none" dirty="0"/>
                            <a:t>/</a:t>
                          </a:r>
                          <a:r>
                            <a:rPr lang="en-US" sz="1100" i="0" u="none" dirty="0" err="1"/>
                            <a:t>Keluaran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/>
                            <a:t>6 x 6 x 10 / 36 (linear) + 128 </a:t>
                          </a:r>
                          <a:r>
                            <a:rPr lang="en-US" sz="1100" i="1" dirty="0"/>
                            <a:t>(embedding)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543986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Optimasi</a:t>
                          </a:r>
                          <a:r>
                            <a:rPr lang="en-US" sz="1100" i="1" dirty="0"/>
                            <a:t> &amp; </a:t>
                          </a:r>
                          <a:r>
                            <a:rPr lang="en-US" sz="1100" i="1" dirty="0" err="1"/>
                            <a:t>Pelatihan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320640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090879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Experience Replay &amp; Target Network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2882215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2770410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dirty="0" err="1">
                              <a:solidFill>
                                <a:schemeClr val="tx1"/>
                              </a:solidFill>
                            </a:rPr>
                            <a:t>Eksplorasi</a:t>
                          </a:r>
                          <a:r>
                            <a:rPr lang="en-US" sz="1100" i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sz="1100" b="0" i="1" dirty="0">
                              <a:solidFill>
                                <a:schemeClr val="tx1"/>
                              </a:solidFill>
                            </a:rPr>
                            <a:t>CAE</a:t>
                          </a:r>
                          <a:endParaRPr lang="en-ID" sz="11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1510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53" t="-1022500" r="-143544" b="-6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0.1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53" t="-1095122" r="-143544" b="-5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1.0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664601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Pembaruan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Gram matrix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Sherman-Morrison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langkah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975297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Normalisasi</a:t>
                          </a:r>
                          <a:r>
                            <a:rPr lang="en-US" sz="1100" i="0" dirty="0"/>
                            <a:t> Bonus</a:t>
                          </a: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Welford (running mean &amp; variance)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56638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253" t="-1430000" r="-143544" b="-2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10,000 </a:t>
                          </a:r>
                          <a:r>
                            <a:rPr lang="en-US" sz="1100" i="0" dirty="0" err="1"/>
                            <a:t>langkah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2050923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r>
                            <a:rPr lang="en-US" sz="1100" i="1" dirty="0" err="1"/>
                            <a:t>Konfigurasi</a:t>
                          </a:r>
                          <a:r>
                            <a:rPr lang="en-US" sz="1100" i="1" dirty="0"/>
                            <a:t> Umum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175907"/>
                      </a:ext>
                    </a:extLst>
                  </a:tr>
                  <a:tr h="24815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0" dirty="0"/>
                            <a:t>Sama </a:t>
                          </a:r>
                          <a:r>
                            <a:rPr lang="en-US" sz="1100" i="0" dirty="0" err="1"/>
                            <a:t>dengan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konfigurasi</a:t>
                          </a:r>
                          <a:r>
                            <a:rPr lang="en-US" sz="1100" i="0" dirty="0"/>
                            <a:t> DQN </a:t>
                          </a:r>
                          <a:r>
                            <a:rPr lang="en-US" sz="1100" i="1" dirty="0"/>
                            <a:t>(page 24)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5326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5140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1853-35D7-468E-A9DB-84A51A65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212394-B59D-EE02-C040-648C3660CDBE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46D13-3664-4420-7A15-C52378D35B3F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428A5A8-04A7-9C70-543F-4758E35AA94B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C0249-36F8-07C7-1906-B1C114DE4635}"/>
              </a:ext>
            </a:extLst>
          </p:cNvPr>
          <p:cNvSpPr/>
          <p:nvPr/>
        </p:nvSpPr>
        <p:spPr>
          <a:xfrm>
            <a:off x="4928616" y="315636"/>
            <a:ext cx="719047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56B00-7F1B-3C4A-FDF1-BE5FFF1EE055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3BAE3-DA16-B44A-EE9A-8F967103AF85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28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18D9F7EF-4407-E483-0CBF-F84B50174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13758F98-9322-12EE-974C-E1F64B35A563}"/>
              </a:ext>
            </a:extLst>
          </p:cNvPr>
          <p:cNvGrpSpPr/>
          <p:nvPr/>
        </p:nvGrpSpPr>
        <p:grpSpPr>
          <a:xfrm>
            <a:off x="1164336" y="1732487"/>
            <a:ext cx="9418730" cy="4137547"/>
            <a:chOff x="1202436" y="2066038"/>
            <a:chExt cx="9418730" cy="413754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4DFCA16-A87A-6199-2073-BDAAC2B6A40E}"/>
                    </a:ext>
                  </a:extLst>
                </p:cNvPr>
                <p:cNvSpPr/>
                <p:nvPr/>
              </p:nvSpPr>
              <p:spPr>
                <a:xfrm>
                  <a:off x="6731635" y="3494683"/>
                  <a:ext cx="1145316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Feedback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done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4DFCA16-A87A-6199-2073-BDAAC2B6A4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1635" y="3494683"/>
                  <a:ext cx="1145316" cy="5114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42B3560-066C-49E6-5995-139F8D21EC25}"/>
                    </a:ext>
                  </a:extLst>
                </p:cNvPr>
                <p:cNvSpPr/>
                <p:nvPr/>
              </p:nvSpPr>
              <p:spPr>
                <a:xfrm>
                  <a:off x="1202436" y="4530988"/>
                  <a:ext cx="1671782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Replay Buffer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aug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done</m:t>
                            </m:r>
                          </m:e>
                        </m:d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42B3560-066C-49E6-5995-139F8D21EC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2436" y="4530988"/>
                  <a:ext cx="1671782" cy="5114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BBC858-0D5C-30C9-8CBC-7AABC34E99AC}"/>
                </a:ext>
              </a:extLst>
            </p:cNvPr>
            <p:cNvSpPr/>
            <p:nvPr/>
          </p:nvSpPr>
          <p:spPr>
            <a:xfrm>
              <a:off x="3197050" y="4534231"/>
              <a:ext cx="1297709" cy="504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Sample Batch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1663AAF-1B1C-5C83-B5CF-7225B15EAA81}"/>
                    </a:ext>
                  </a:extLst>
                </p:cNvPr>
                <p:cNvSpPr/>
                <p:nvPr/>
              </p:nvSpPr>
              <p:spPr>
                <a:xfrm>
                  <a:off x="4817591" y="4527744"/>
                  <a:ext cx="2475346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Target 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(Target Network)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aug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1663AAF-1B1C-5C83-B5CF-7225B15EAA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7591" y="4527744"/>
                  <a:ext cx="2475346" cy="511486"/>
                </a:xfrm>
                <a:prstGeom prst="rect">
                  <a:avLst/>
                </a:prstGeom>
                <a:blipFill>
                  <a:blip r:embed="rId6"/>
                  <a:stretch>
                    <a:fillRect t="-23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EF2C982-6FB5-2238-13EA-430D58AD3A62}"/>
                    </a:ext>
                  </a:extLst>
                </p:cNvPr>
                <p:cNvSpPr/>
                <p:nvPr/>
              </p:nvSpPr>
              <p:spPr>
                <a:xfrm>
                  <a:off x="7615769" y="4525799"/>
                  <a:ext cx="1671781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Prediction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EF2C982-6FB5-2238-13EA-430D58AD3A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769" y="4525799"/>
                  <a:ext cx="1671781" cy="51148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A488203-51C9-7110-B530-1F07EAF6085F}"/>
                    </a:ext>
                  </a:extLst>
                </p:cNvPr>
                <p:cNvSpPr/>
                <p:nvPr/>
              </p:nvSpPr>
              <p:spPr>
                <a:xfrm>
                  <a:off x="2093117" y="2356661"/>
                  <a:ext cx="1011384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Observation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A488203-51C9-7110-B530-1F07EAF608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3117" y="2356661"/>
                  <a:ext cx="1011384" cy="51148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7EC2EC-1865-0F1C-7651-8315BC5E85FA}"/>
                </a:ext>
              </a:extLst>
            </p:cNvPr>
            <p:cNvSpPr/>
            <p:nvPr/>
          </p:nvSpPr>
          <p:spPr>
            <a:xfrm>
              <a:off x="1955428" y="2066038"/>
              <a:ext cx="1286762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i="1" cap="none" spc="0" dirty="0">
                  <a:ln w="0"/>
                  <a:solidFill>
                    <a:schemeClr val="bg1"/>
                  </a:solidFill>
                  <a:cs typeface="Arial" panose="020B0604020202020204" pitchFamily="34" charset="0"/>
                </a:rPr>
                <a:t>Input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5F267B3-F3D5-5303-C9D9-F38B4DA03624}"/>
                    </a:ext>
                  </a:extLst>
                </p:cNvPr>
                <p:cNvSpPr/>
                <p:nvPr/>
              </p:nvSpPr>
              <p:spPr>
                <a:xfrm>
                  <a:off x="8145820" y="2269250"/>
                  <a:ext cx="2475346" cy="6863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scaled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𝒜</m:t>
                                    </m:r>
                                  </m:lim>
                                </m:limLow>
                              </m:fName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1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5F267B3-F3D5-5303-C9D9-F38B4DA03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5820" y="2269250"/>
                  <a:ext cx="2475346" cy="686309"/>
                </a:xfrm>
                <a:prstGeom prst="rect">
                  <a:avLst/>
                </a:prstGeom>
                <a:blipFill>
                  <a:blip r:embed="rId9"/>
                  <a:stretch>
                    <a:fillRect t="-267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9ADBBAE-2EDD-708E-959F-44E4B1C3DA1C}"/>
                    </a:ext>
                  </a:extLst>
                </p:cNvPr>
                <p:cNvSpPr/>
                <p:nvPr/>
              </p:nvSpPr>
              <p:spPr>
                <a:xfrm>
                  <a:off x="7233690" y="5408720"/>
                  <a:ext cx="2435937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Loss Function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𝑀𝑆𝐸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9ADBBAE-2EDD-708E-959F-44E4B1C3DA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3690" y="5408720"/>
                  <a:ext cx="2435937" cy="51148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ACE30C0-214F-892E-6487-1B13FD32F7BA}"/>
                    </a:ext>
                  </a:extLst>
                </p:cNvPr>
                <p:cNvSpPr/>
                <p:nvPr/>
              </p:nvSpPr>
              <p:spPr>
                <a:xfrm>
                  <a:off x="4255873" y="5329087"/>
                  <a:ext cx="1750302" cy="67075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Update (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Adam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̂</m:t>
                                </m:r>
                              </m:e>
                            </m:rad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ACE30C0-214F-892E-6487-1B13FD32F7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5873" y="5329087"/>
                  <a:ext cx="1750302" cy="6707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102981E-623C-58CB-EA20-234E78B3C84D}"/>
                </a:ext>
              </a:extLst>
            </p:cNvPr>
            <p:cNvSpPr/>
            <p:nvPr/>
          </p:nvSpPr>
          <p:spPr>
            <a:xfrm>
              <a:off x="6006175" y="5741920"/>
              <a:ext cx="1227515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i="1" cap="none" spc="0" dirty="0">
                  <a:ln w="0"/>
                  <a:solidFill>
                    <a:schemeClr val="bg1"/>
                  </a:solidFill>
                  <a:cs typeface="Arial" panose="020B0604020202020204" pitchFamily="34" charset="0"/>
                </a:rPr>
                <a:t>Back Propagation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528D061-12A0-56DD-AC69-2058682CED07}"/>
                    </a:ext>
                  </a:extLst>
                </p:cNvPr>
                <p:cNvSpPr/>
                <p:nvPr/>
              </p:nvSpPr>
              <p:spPr>
                <a:xfrm>
                  <a:off x="3465918" y="2269250"/>
                  <a:ext cx="1819564" cy="6863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Forward Propagation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528D061-12A0-56DD-AC69-2058682CED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5918" y="2269250"/>
                  <a:ext cx="1819564" cy="68630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9E380B1-F33E-D671-731E-3D159564DE46}"/>
                </a:ext>
              </a:extLst>
            </p:cNvPr>
            <p:cNvCxnSpPr>
              <a:cxnSpLocks/>
              <a:stCxn id="18" idx="1"/>
              <a:endCxn id="19" idx="3"/>
            </p:cNvCxnSpPr>
            <p:nvPr/>
          </p:nvCxnSpPr>
          <p:spPr>
            <a:xfrm flipH="1">
              <a:off x="6006175" y="5664463"/>
              <a:ext cx="122751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942B602-E8EB-1FF0-6955-E99CAD779403}"/>
                    </a:ext>
                  </a:extLst>
                </p:cNvPr>
                <p:cNvSpPr/>
                <p:nvPr/>
              </p:nvSpPr>
              <p:spPr>
                <a:xfrm>
                  <a:off x="5554351" y="2269250"/>
                  <a:ext cx="2322600" cy="6863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Bonus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raw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ad>
                          <m:radPr>
                            <m:degHide m:val="on"/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200" dirty="0" err="1">
                      <a:solidFill>
                        <a:schemeClr val="tx1"/>
                      </a:solidFill>
                    </a:rPr>
                    <a:t>Normalisasi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(Welford) 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scaled</m:t>
                          </m:r>
                        </m:sub>
                      </m:sSub>
                    </m:oMath>
                  </a14:m>
                  <a:endParaRPr lang="en-US" sz="12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942B602-E8EB-1FF0-6955-E99CAD7794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351" y="2269250"/>
                  <a:ext cx="2322600" cy="686310"/>
                </a:xfrm>
                <a:prstGeom prst="rect">
                  <a:avLst/>
                </a:prstGeom>
                <a:blipFill>
                  <a:blip r:embed="rId13"/>
                  <a:stretch>
                    <a:fillRect b="-714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EB99D06-344A-5123-33FD-5DD8A57059D6}"/>
                    </a:ext>
                  </a:extLst>
                </p:cNvPr>
                <p:cNvSpPr/>
                <p:nvPr/>
              </p:nvSpPr>
              <p:spPr>
                <a:xfrm>
                  <a:off x="8145820" y="3405971"/>
                  <a:ext cx="2475346" cy="6863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Update Gram Matrix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sSup>
                          <m:sSup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Update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a14:m>
                  <a:r>
                    <a:rPr lang="en-US" sz="1200" dirty="0">
                      <a:solidFill>
                        <a:schemeClr val="tx1"/>
                      </a:solidFill>
                    </a:rPr>
                    <a:t> via 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Sherman-Morrison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EB99D06-344A-5123-33FD-5DD8A57059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5820" y="3405971"/>
                  <a:ext cx="2475346" cy="686308"/>
                </a:xfrm>
                <a:prstGeom prst="rect">
                  <a:avLst/>
                </a:prstGeom>
                <a:blipFill>
                  <a:blip r:embed="rId14"/>
                  <a:stretch>
                    <a:fillRect b="-354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B25207B1-A13F-6AE4-4559-ED6A8D7C5EDB}"/>
                    </a:ext>
                  </a:extLst>
                </p:cNvPr>
                <p:cNvSpPr/>
                <p:nvPr/>
              </p:nvSpPr>
              <p:spPr>
                <a:xfrm>
                  <a:off x="3214184" y="3224926"/>
                  <a:ext cx="3206814" cy="10546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Bonus Next State</a:t>
                  </a:r>
                </a:p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Forward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ϕ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ad>
                          <m:radPr>
                            <m:degHide m:val="on"/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200" dirty="0" err="1">
                      <a:solidFill>
                        <a:schemeClr val="tx1"/>
                      </a:solidFill>
                    </a:rPr>
                    <a:t>Normalisasi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200" i="1" dirty="0">
                      <a:solidFill>
                        <a:schemeClr val="tx1"/>
                      </a:solidFill>
                    </a:rPr>
                    <a:t>(Welford) 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scaled</m:t>
                          </m:r>
                        </m:sub>
                      </m:sSub>
                    </m:oMath>
                  </a14:m>
                  <a:r>
                    <a:rPr lang="en-US" sz="1200" i="1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(bonus final)</a:t>
                  </a:r>
                </a:p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If done &gt; bonus = 0</a:t>
                  </a:r>
                </a:p>
              </p:txBody>
            </p:sp>
          </mc:Choice>
          <mc:Fallback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B25207B1-A13F-6AE4-4559-ED6A8D7C5E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4184" y="3224926"/>
                  <a:ext cx="3206814" cy="1054653"/>
                </a:xfrm>
                <a:prstGeom prst="rect">
                  <a:avLst/>
                </a:prstGeom>
                <a:blipFill>
                  <a:blip r:embed="rId15"/>
                  <a:stretch>
                    <a:fillRect b="-404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1D8FDE5-027D-5547-3F04-9A2E2F5DFD1A}"/>
                    </a:ext>
                  </a:extLst>
                </p:cNvPr>
                <p:cNvSpPr/>
                <p:nvPr/>
              </p:nvSpPr>
              <p:spPr>
                <a:xfrm>
                  <a:off x="1202436" y="3494683"/>
                  <a:ext cx="1671782" cy="51148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Augment Reward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𝑎𝑢𝑔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LID4096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1D8FDE5-027D-5547-3F04-9A2E2F5DFD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2436" y="3494683"/>
                  <a:ext cx="1671782" cy="51148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0E5DA44-C9FF-6D17-0C1D-C9F583D22290}"/>
                </a:ext>
              </a:extLst>
            </p:cNvPr>
            <p:cNvCxnSpPr>
              <a:cxnSpLocks/>
              <a:stCxn id="32" idx="3"/>
              <a:endCxn id="22" idx="1"/>
            </p:cNvCxnSpPr>
            <p:nvPr/>
          </p:nvCxnSpPr>
          <p:spPr>
            <a:xfrm>
              <a:off x="3104501" y="2612404"/>
              <a:ext cx="361417" cy="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C3EFFCF-F89C-6CDC-8F7C-4315BB4B7E8F}"/>
                </a:ext>
              </a:extLst>
            </p:cNvPr>
            <p:cNvCxnSpPr>
              <a:cxnSpLocks/>
              <a:stCxn id="22" idx="3"/>
              <a:endCxn id="41" idx="1"/>
            </p:cNvCxnSpPr>
            <p:nvPr/>
          </p:nvCxnSpPr>
          <p:spPr>
            <a:xfrm>
              <a:off x="5285482" y="2612405"/>
              <a:ext cx="268869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DF7C601-4C1F-2647-53BC-69515C6F7F71}"/>
                </a:ext>
              </a:extLst>
            </p:cNvPr>
            <p:cNvCxnSpPr>
              <a:cxnSpLocks/>
              <a:stCxn id="41" idx="3"/>
              <a:endCxn id="16" idx="1"/>
            </p:cNvCxnSpPr>
            <p:nvPr/>
          </p:nvCxnSpPr>
          <p:spPr>
            <a:xfrm>
              <a:off x="7876951" y="2612405"/>
              <a:ext cx="268869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551C112-7DEA-54B8-3794-A9A860E3DEB1}"/>
                </a:ext>
              </a:extLst>
            </p:cNvPr>
            <p:cNvCxnSpPr>
              <a:cxnSpLocks/>
              <a:stCxn id="16" idx="2"/>
              <a:endCxn id="42" idx="0"/>
            </p:cNvCxnSpPr>
            <p:nvPr/>
          </p:nvCxnSpPr>
          <p:spPr>
            <a:xfrm>
              <a:off x="9383493" y="2955559"/>
              <a:ext cx="0" cy="450412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3DE5275-EF20-C12B-5C7E-C67CDDA7F2CC}"/>
                </a:ext>
              </a:extLst>
            </p:cNvPr>
            <p:cNvCxnSpPr>
              <a:cxnSpLocks/>
              <a:stCxn id="42" idx="1"/>
              <a:endCxn id="7" idx="3"/>
            </p:cNvCxnSpPr>
            <p:nvPr/>
          </p:nvCxnSpPr>
          <p:spPr>
            <a:xfrm flipH="1">
              <a:off x="7876951" y="3749125"/>
              <a:ext cx="268869" cy="130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40DD5C5-0E37-3359-373E-D18864B45D66}"/>
                </a:ext>
              </a:extLst>
            </p:cNvPr>
            <p:cNvCxnSpPr>
              <a:cxnSpLocks/>
              <a:stCxn id="7" idx="1"/>
              <a:endCxn id="43" idx="3"/>
            </p:cNvCxnSpPr>
            <p:nvPr/>
          </p:nvCxnSpPr>
          <p:spPr>
            <a:xfrm flipH="1">
              <a:off x="6420998" y="3750426"/>
              <a:ext cx="310637" cy="182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68F60FB-9193-D67D-9E4C-82D383C18ACF}"/>
                </a:ext>
              </a:extLst>
            </p:cNvPr>
            <p:cNvCxnSpPr>
              <a:cxnSpLocks/>
              <a:stCxn id="43" idx="1"/>
              <a:endCxn id="46" idx="3"/>
            </p:cNvCxnSpPr>
            <p:nvPr/>
          </p:nvCxnSpPr>
          <p:spPr>
            <a:xfrm flipH="1" flipV="1">
              <a:off x="2874218" y="3750426"/>
              <a:ext cx="339966" cy="182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1D6DD77-D0E3-8B4F-529B-054D294B5D3E}"/>
                </a:ext>
              </a:extLst>
            </p:cNvPr>
            <p:cNvCxnSpPr>
              <a:cxnSpLocks/>
              <a:stCxn id="46" idx="2"/>
              <a:endCxn id="11" idx="0"/>
            </p:cNvCxnSpPr>
            <p:nvPr/>
          </p:nvCxnSpPr>
          <p:spPr>
            <a:xfrm>
              <a:off x="2038327" y="4006169"/>
              <a:ext cx="0" cy="524819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AB3F42A-24FC-9DD4-33BE-902B03796C34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2874218" y="4786731"/>
              <a:ext cx="322832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25195D0-AA85-DDB1-91D9-E03DEC195D0A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 flipV="1">
              <a:off x="4494759" y="4783487"/>
              <a:ext cx="322832" cy="324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B60DD51-D836-C621-84FE-C59157C914BF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 flipV="1">
              <a:off x="7292937" y="4781542"/>
              <a:ext cx="322832" cy="19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8A45C3C-C46B-26D7-6523-609629B3F1C1}"/>
                </a:ext>
              </a:extLst>
            </p:cNvPr>
            <p:cNvCxnSpPr>
              <a:cxnSpLocks/>
              <a:stCxn id="14" idx="2"/>
              <a:endCxn id="18" idx="0"/>
            </p:cNvCxnSpPr>
            <p:nvPr/>
          </p:nvCxnSpPr>
          <p:spPr>
            <a:xfrm flipH="1">
              <a:off x="8451659" y="5037285"/>
              <a:ext cx="1" cy="37143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3970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242A-4A25-5FA5-1C8E-E17D7D99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12A561-4E95-D1EC-AFCA-BD419DF3BE25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9C80F8-6A76-01F0-01D5-314835F13D43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76208DE-8CD2-73DF-C3EA-EEE04FBA9C0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68F54-5172-00DD-DF63-136696A4DBA1}"/>
              </a:ext>
            </a:extLst>
          </p:cNvPr>
          <p:cNvSpPr/>
          <p:nvPr/>
        </p:nvSpPr>
        <p:spPr>
          <a:xfrm>
            <a:off x="4425696" y="315636"/>
            <a:ext cx="769339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25283-53A5-91D8-D91D-2DCD57375EBC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&amp;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Evaluasi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183FB-880C-A9DB-196F-33C54A3F4134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29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C35F420-3647-8149-363D-043F80489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5D49753-9887-FA29-727B-2CD3AAEFB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4639124"/>
                  </p:ext>
                </p:extLst>
              </p:nvPr>
            </p:nvGraphicFramePr>
            <p:xfrm>
              <a:off x="639809" y="2024440"/>
              <a:ext cx="5565919" cy="3145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191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874008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229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PELATIHAN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Aspek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Keterangan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Total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80,000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Environment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2004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32458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Model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123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6208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Logging </a:t>
                          </a:r>
                          <a:r>
                            <a:rPr lang="en-US" sz="1100" i="0" dirty="0"/>
                            <a:t>per Episode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csv/training_[algorithm].csv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327469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episode, </a:t>
                          </a:r>
                          <a:r>
                            <a:rPr lang="en-US" sz="1100" i="1" dirty="0" err="1"/>
                            <a:t>total_reward</a:t>
                          </a:r>
                          <a:r>
                            <a:rPr lang="en-US" sz="1100" i="1" dirty="0"/>
                            <a:t>, progress, win, </a:t>
                          </a:r>
                          <a:r>
                            <a:rPr lang="en-US" sz="1100" i="1" dirty="0" err="1"/>
                            <a:t>n_clicks</a:t>
                          </a:r>
                          <a:r>
                            <a:rPr lang="en-US" sz="1100" i="1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learn_rate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2499519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</a:t>
                          </a:r>
                          <a:r>
                            <a:rPr lang="en-US" sz="1100" i="0" dirty="0" err="1"/>
                            <a:t>Evaluasi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Berkala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csv/training_eval_[algorithm].csv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01640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Frekuensi 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1,000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0056827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median progress, win rate, median reward, </a:t>
                          </a:r>
                          <a:r>
                            <a:rPr lang="en-US" sz="1100" i="0" dirty="0" err="1"/>
                            <a:t>waktu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558287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Penyimpanan</a:t>
                          </a:r>
                          <a:r>
                            <a:rPr lang="en-US" sz="1100" i="0" dirty="0"/>
                            <a:t> Model </a:t>
                          </a:r>
                          <a:r>
                            <a:rPr lang="en-US" sz="1100" i="0" dirty="0" err="1"/>
                            <a:t>Terbaik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[</a:t>
                          </a:r>
                          <a:r>
                            <a:rPr lang="en-US" sz="1100" i="1" dirty="0" err="1"/>
                            <a:t>algoritma</a:t>
                          </a:r>
                          <a:r>
                            <a:rPr lang="en-US" sz="1100" i="1" dirty="0"/>
                            <a:t>]_</a:t>
                          </a:r>
                          <a:r>
                            <a:rPr lang="en-US" sz="1100" i="1" dirty="0" err="1"/>
                            <a:t>best.keras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berdasarkan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win rate </a:t>
                          </a:r>
                          <a:r>
                            <a:rPr lang="en-US" sz="1100" i="0" dirty="0" err="1"/>
                            <a:t>tertinggi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030299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Smoothing </a:t>
                          </a:r>
                          <a:r>
                            <a:rPr lang="en-US" sz="1100" i="0" dirty="0"/>
                            <a:t>Kurva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SMA, </a:t>
                          </a:r>
                          <a:r>
                            <a:rPr lang="en-US" sz="1100" i="1" dirty="0"/>
                            <a:t>window </a:t>
                          </a:r>
                          <a:r>
                            <a:rPr lang="en-US" sz="1100" i="0" dirty="0"/>
                            <a:t>500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85684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5D49753-9887-FA29-727B-2CD3AAEFBF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4639124"/>
                  </p:ext>
                </p:extLst>
              </p:nvPr>
            </p:nvGraphicFramePr>
            <p:xfrm>
              <a:off x="639809" y="2024440"/>
              <a:ext cx="5565919" cy="3145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1911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874008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815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PELATIHAN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Aspek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Keterangan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Total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80,000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Environment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2004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32458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Model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123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6208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Logging </a:t>
                          </a:r>
                          <a:r>
                            <a:rPr lang="en-US" sz="1100" i="0" dirty="0"/>
                            <a:t>per Episode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csv/training_[algorithm].csv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327469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43868" t="-602439" r="-786" b="-578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2499519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</a:t>
                          </a:r>
                          <a:r>
                            <a:rPr lang="en-US" sz="1100" i="0" dirty="0" err="1"/>
                            <a:t>Evaluasi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Berkala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csv/training_eval_[algorithm].csv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016401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Frekuensi 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Setiap</a:t>
                          </a:r>
                          <a:r>
                            <a:rPr lang="en-US" sz="1100" i="0" dirty="0"/>
                            <a:t> 1,000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0056827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median progress, win rate, median reward, </a:t>
                          </a:r>
                          <a:r>
                            <a:rPr lang="en-US" sz="1100" i="0" dirty="0" err="1"/>
                            <a:t>waktu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558287"/>
                      </a:ext>
                    </a:extLst>
                  </a:tr>
                  <a:tr h="41579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Penyimpanan</a:t>
                          </a:r>
                          <a:r>
                            <a:rPr lang="en-US" sz="1100" i="0" dirty="0"/>
                            <a:t> Model </a:t>
                          </a:r>
                          <a:r>
                            <a:rPr lang="en-US" sz="1100" i="0" dirty="0" err="1"/>
                            <a:t>Terbaik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[</a:t>
                          </a:r>
                          <a:r>
                            <a:rPr lang="en-US" sz="1100" i="1" dirty="0" err="1"/>
                            <a:t>algoritma</a:t>
                          </a:r>
                          <a:r>
                            <a:rPr lang="en-US" sz="1100" i="1" dirty="0"/>
                            <a:t>]_</a:t>
                          </a:r>
                          <a:r>
                            <a:rPr lang="en-US" sz="1100" i="1" dirty="0" err="1"/>
                            <a:t>best.keras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berdasarkan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1" dirty="0"/>
                            <a:t>win rate </a:t>
                          </a:r>
                          <a:r>
                            <a:rPr lang="en-US" sz="1100" i="0" dirty="0" err="1"/>
                            <a:t>tertinggi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030299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Smoothing </a:t>
                          </a:r>
                          <a:r>
                            <a:rPr lang="en-US" sz="1100" i="0" dirty="0"/>
                            <a:t>Kurva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SMA, </a:t>
                          </a:r>
                          <a:r>
                            <a:rPr lang="en-US" sz="1100" i="1" dirty="0"/>
                            <a:t>window </a:t>
                          </a:r>
                          <a:r>
                            <a:rPr lang="en-US" sz="1100" i="0" dirty="0"/>
                            <a:t>500 episode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85684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53F4EBA6-C4EF-C53D-1827-98E4760CE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0586701"/>
                  </p:ext>
                </p:extLst>
              </p:nvPr>
            </p:nvGraphicFramePr>
            <p:xfrm>
              <a:off x="6747253" y="2024440"/>
              <a:ext cx="4804938" cy="2401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3592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051346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229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EVALUASI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Aspek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Keterangan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[</a:t>
                          </a:r>
                          <a:r>
                            <a:rPr lang="en-US" sz="1100" i="1" dirty="0" err="1"/>
                            <a:t>algoritma</a:t>
                          </a:r>
                          <a:r>
                            <a:rPr lang="en-US" sz="1100" i="1" dirty="0"/>
                            <a:t>]_</a:t>
                          </a:r>
                          <a:r>
                            <a:rPr lang="en-US" sz="1100" i="1" dirty="0" err="1"/>
                            <a:t>best.keras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hasil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</a:t>
                          </a:r>
                          <a:r>
                            <a:rPr lang="en-US" sz="1100" i="0" dirty="0"/>
                            <a:t>Papan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1, 2, 3, 4, 5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32458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/>
                            <a:t>Episode per </a:t>
                          </a:r>
                          <a:r>
                            <a:rPr lang="en-US" sz="1100" i="1" u="none" dirty="0"/>
                            <a:t>Seed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500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6208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Total Episode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2,500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per </a:t>
                          </a:r>
                          <a:r>
                            <a:rPr lang="en-US" sz="1100" i="1" dirty="0"/>
                            <a:t>agent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3274695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Greedy </a:t>
                          </a:r>
                          <a:r>
                            <a:rPr lang="en-US" sz="1100" i="0" dirty="0" err="1"/>
                            <a:t>murni</a:t>
                          </a:r>
                          <a:r>
                            <a:rPr lang="en-US" sz="1100" i="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sz="1100" i="0" dirty="0"/>
                            <a:t>, </a:t>
                          </a:r>
                          <a:r>
                            <a:rPr lang="en-US" sz="1100" i="0" dirty="0" err="1"/>
                            <a:t>tanpa</a:t>
                          </a:r>
                          <a:r>
                            <a:rPr lang="en-US" sz="1100" i="0" baseline="0" dirty="0"/>
                            <a:t> bonus CAE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2499519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</a:t>
                          </a:r>
                          <a:r>
                            <a:rPr lang="en-US" sz="1100" i="0" dirty="0"/>
                            <a:t>Hasil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csv/eval_[algoritma]_4mines.csv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016401"/>
                      </a:ext>
                    </a:extLst>
                  </a:tr>
                  <a:tr h="242295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Algorithm, </a:t>
                          </a:r>
                          <a:r>
                            <a:rPr lang="en-US" sz="1100" i="1" dirty="0" err="1"/>
                            <a:t>board_size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n_mines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eval_seed</a:t>
                          </a:r>
                          <a:r>
                            <a:rPr lang="en-US" sz="1100" i="1" dirty="0"/>
                            <a:t>, episode, win, progress, </a:t>
                          </a:r>
                          <a:r>
                            <a:rPr lang="en-US" sz="1100" i="1" dirty="0" err="1"/>
                            <a:t>total_reward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n_clicks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00568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53F4EBA6-C4EF-C53D-1827-98E4760CEA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0586701"/>
                  </p:ext>
                </p:extLst>
              </p:nvPr>
            </p:nvGraphicFramePr>
            <p:xfrm>
              <a:off x="6747253" y="2024440"/>
              <a:ext cx="4804938" cy="2401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3592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3051346">
                      <a:extLst>
                        <a:ext uri="{9D8B030D-6E8A-4147-A177-3AD203B41FA5}">
                          <a16:colId xmlns:a16="http://schemas.microsoft.com/office/drawing/2014/main" val="1521775594"/>
                        </a:ext>
                      </a:extLst>
                    </a:gridCol>
                  </a:tblGrid>
                  <a:tr h="24815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EVALUASI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737047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Aspek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 err="1"/>
                            <a:t>Keterangan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[</a:t>
                          </a:r>
                          <a:r>
                            <a:rPr lang="en-US" sz="1100" i="1" dirty="0" err="1"/>
                            <a:t>algoritma</a:t>
                          </a:r>
                          <a:r>
                            <a:rPr lang="en-US" sz="1100" i="1" dirty="0"/>
                            <a:t>]_</a:t>
                          </a:r>
                          <a:r>
                            <a:rPr lang="en-US" sz="1100" i="1" dirty="0" err="1"/>
                            <a:t>best.keras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(</a:t>
                          </a:r>
                          <a:r>
                            <a:rPr lang="en-US" sz="1100" i="0" dirty="0" err="1"/>
                            <a:t>hasil</a:t>
                          </a:r>
                          <a:r>
                            <a:rPr lang="en-US" sz="1100" i="0" dirty="0"/>
                            <a:t> </a:t>
                          </a:r>
                          <a:r>
                            <a:rPr lang="en-US" sz="1100" i="0" dirty="0" err="1"/>
                            <a:t>pelatihan</a:t>
                          </a:r>
                          <a:r>
                            <a:rPr lang="en-US" sz="1100" i="0" dirty="0"/>
                            <a:t>)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226164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Seed </a:t>
                          </a:r>
                          <a:r>
                            <a:rPr lang="en-US" sz="1100" i="0" dirty="0"/>
                            <a:t>Papan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1, 2, 3, 4, 5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0132458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u="none" dirty="0"/>
                            <a:t>Episode per </a:t>
                          </a:r>
                          <a:r>
                            <a:rPr lang="en-US" sz="1100" i="1" u="none" dirty="0"/>
                            <a:t>Seed</a:t>
                          </a:r>
                          <a:endParaRPr lang="LID4096" sz="1100" i="0" u="none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500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96208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Total Episode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2,500</a:t>
                          </a:r>
                          <a:r>
                            <a:rPr lang="en-US" sz="1100" i="1" dirty="0"/>
                            <a:t> </a:t>
                          </a:r>
                          <a:r>
                            <a:rPr lang="en-US" sz="1100" i="0" dirty="0"/>
                            <a:t>per </a:t>
                          </a:r>
                          <a:r>
                            <a:rPr lang="en-US" sz="1100" i="1" dirty="0"/>
                            <a:t>agent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3274695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57570" t="-600000" r="-797" b="-285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2499519"/>
                      </a:ext>
                    </a:extLst>
                  </a:tr>
                  <a:tr h="248156"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File </a:t>
                          </a:r>
                          <a:r>
                            <a:rPr lang="en-US" sz="1100" i="0" dirty="0"/>
                            <a:t>Hasil </a:t>
                          </a:r>
                          <a:r>
                            <a:rPr lang="en-US" sz="1100" i="0" dirty="0" err="1"/>
                            <a:t>Evaluasi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csv/eval_[algoritma]_4mines.csv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0016401"/>
                      </a:ext>
                    </a:extLst>
                  </a:tr>
                  <a:tr h="415796">
                    <a:tc>
                      <a:txBody>
                        <a:bodyPr/>
                        <a:lstStyle/>
                        <a:p>
                          <a:r>
                            <a:rPr lang="en-US" sz="1100" i="0" dirty="0" err="1"/>
                            <a:t>Metrik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 dirty="0"/>
                            <a:t>Algorithm, </a:t>
                          </a:r>
                          <a:r>
                            <a:rPr lang="en-US" sz="1100" i="1" dirty="0" err="1"/>
                            <a:t>board_size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n_mines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eval_seed</a:t>
                          </a:r>
                          <a:r>
                            <a:rPr lang="en-US" sz="1100" i="1" dirty="0"/>
                            <a:t>, episode, win, progress, </a:t>
                          </a:r>
                          <a:r>
                            <a:rPr lang="en-US" sz="1100" i="1" dirty="0" err="1"/>
                            <a:t>total_reward</a:t>
                          </a:r>
                          <a:r>
                            <a:rPr lang="en-US" sz="1100" i="1" dirty="0"/>
                            <a:t>, </a:t>
                          </a:r>
                          <a:r>
                            <a:rPr lang="en-US" sz="1100" i="1" dirty="0" err="1"/>
                            <a:t>n_clicks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00568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5048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C971-119E-CEB7-4988-3802982F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7C39D9-39A6-1B39-6323-44AA239440FB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6BCB1-BB41-1357-45AD-AACC86DBD259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433D158-1554-E3FD-13BC-E9E46E76F2C5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7B435-7A64-EB11-EF73-DFFF8D41830F}"/>
              </a:ext>
            </a:extLst>
          </p:cNvPr>
          <p:cNvSpPr/>
          <p:nvPr/>
        </p:nvSpPr>
        <p:spPr>
          <a:xfrm>
            <a:off x="4544568" y="315636"/>
            <a:ext cx="757452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PERANCANGAN &amp; IMPLEMENTASI SISTEM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40795-3099-0B53-E9FA-13ABD071F1D4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Metode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Analisis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E77697-F07B-C118-D023-63AA8212AA21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30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4FAB80FC-92E1-CDAD-059A-C3BD7BDA5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7C275B-5284-8838-00D9-A5C801300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561626"/>
              </p:ext>
            </p:extLst>
          </p:nvPr>
        </p:nvGraphicFramePr>
        <p:xfrm>
          <a:off x="3678863" y="2045062"/>
          <a:ext cx="4834263" cy="3708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56">
                  <a:extLst>
                    <a:ext uri="{9D8B030D-6E8A-4147-A177-3AD203B41FA5}">
                      <a16:colId xmlns:a16="http://schemas.microsoft.com/office/drawing/2014/main" val="677350261"/>
                    </a:ext>
                  </a:extLst>
                </a:gridCol>
                <a:gridCol w="3208707">
                  <a:extLst>
                    <a:ext uri="{9D8B030D-6E8A-4147-A177-3AD203B41FA5}">
                      <a16:colId xmlns:a16="http://schemas.microsoft.com/office/drawing/2014/main" val="1521775594"/>
                    </a:ext>
                  </a:extLst>
                </a:gridCol>
              </a:tblGrid>
              <a:tr h="325975"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Kategori</a:t>
                      </a:r>
                      <a:endParaRPr lang="LID4096" sz="1200" b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Metode / </a:t>
                      </a:r>
                      <a:r>
                        <a:rPr lang="en-US" sz="1200" b="1" dirty="0" err="1"/>
                        <a:t>Metrik</a:t>
                      </a:r>
                      <a:endParaRPr lang="LID4096" sz="1200" b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91375"/>
                  </a:ext>
                </a:extLst>
              </a:tr>
              <a:tr h="546185">
                <a:tc>
                  <a:txBody>
                    <a:bodyPr/>
                    <a:lstStyle/>
                    <a:p>
                      <a:r>
                        <a:rPr lang="en-US" sz="1200" i="0" dirty="0"/>
                        <a:t>Performa Akhir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Welch’s t-test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Cohen’s d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26164"/>
                  </a:ext>
                </a:extLst>
              </a:tr>
              <a:tr h="546185">
                <a:tc>
                  <a:txBody>
                    <a:bodyPr/>
                    <a:lstStyle/>
                    <a:p>
                      <a:r>
                        <a:rPr lang="en-US" sz="1200" i="0" dirty="0"/>
                        <a:t>Interval </a:t>
                      </a:r>
                      <a:r>
                        <a:rPr lang="en-US" sz="1200" i="0" dirty="0" err="1"/>
                        <a:t>Kepercayaan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Interval </a:t>
                      </a:r>
                      <a:r>
                        <a:rPr lang="en-US" sz="1200" i="0" dirty="0" err="1"/>
                        <a:t>Parametrik</a:t>
                      </a:r>
                      <a:endParaRPr lang="en-US" sz="1200" i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/>
                        <a:t>Bootstrap </a:t>
                      </a:r>
                      <a:r>
                        <a:rPr lang="en-US" sz="1200" i="0" dirty="0"/>
                        <a:t>(10,000 </a:t>
                      </a:r>
                      <a:r>
                        <a:rPr lang="en-US" sz="1200" i="0" dirty="0" err="1"/>
                        <a:t>sampel</a:t>
                      </a:r>
                      <a:r>
                        <a:rPr lang="en-US" sz="1200" i="0" dirty="0"/>
                        <a:t>)</a:t>
                      </a:r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32592"/>
                  </a:ext>
                </a:extLst>
              </a:tr>
              <a:tr h="546185">
                <a:tc>
                  <a:txBody>
                    <a:bodyPr/>
                    <a:lstStyle/>
                    <a:p>
                      <a:r>
                        <a:rPr lang="en-US" sz="1200" i="0" dirty="0" err="1"/>
                        <a:t>Efisiensi</a:t>
                      </a:r>
                      <a:r>
                        <a:rPr lang="en-US" sz="1200" i="0" dirty="0"/>
                        <a:t> Sampel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AUC (40,000 episode </a:t>
                      </a:r>
                      <a:r>
                        <a:rPr lang="en-US" sz="1200" i="0" dirty="0" err="1"/>
                        <a:t>pertama</a:t>
                      </a:r>
                      <a:r>
                        <a:rPr lang="en-US" sz="1200" i="0" dirty="0"/>
                        <a:t>)</a:t>
                      </a:r>
                    </a:p>
                    <a:p>
                      <a:r>
                        <a:rPr lang="en-US" sz="1200" i="0" dirty="0"/>
                        <a:t>Episode </a:t>
                      </a:r>
                      <a:r>
                        <a:rPr lang="en-US" sz="1200" i="0" dirty="0" err="1"/>
                        <a:t>mencapai</a:t>
                      </a:r>
                      <a:r>
                        <a:rPr lang="en-US" sz="1200" i="0" dirty="0"/>
                        <a:t> 50% </a:t>
                      </a:r>
                      <a:r>
                        <a:rPr lang="en-US" sz="1200" i="1" dirty="0"/>
                        <a:t>win rate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44562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200" i="0" dirty="0"/>
                        <a:t>Tren </a:t>
                      </a:r>
                      <a:r>
                        <a:rPr lang="en-US" sz="1200" i="0" dirty="0" err="1"/>
                        <a:t>Pelatihan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Mann-Kendall &amp; Sen’s Slope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461303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200" i="0" dirty="0" err="1"/>
                        <a:t>Stabilitas</a:t>
                      </a:r>
                      <a:r>
                        <a:rPr lang="en-US" sz="1200" i="0" dirty="0"/>
                        <a:t> Akhir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Standar </a:t>
                      </a:r>
                      <a:r>
                        <a:rPr lang="en-US" sz="1200" i="0" dirty="0" err="1"/>
                        <a:t>Deviasi</a:t>
                      </a:r>
                      <a:r>
                        <a:rPr lang="en-US" sz="1200" i="0" dirty="0"/>
                        <a:t> &amp; </a:t>
                      </a:r>
                      <a:r>
                        <a:rPr lang="en-US" sz="1200" i="0" dirty="0" err="1"/>
                        <a:t>Regresi</a:t>
                      </a:r>
                      <a:r>
                        <a:rPr lang="en-US" sz="1200" i="0" dirty="0"/>
                        <a:t> Linier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74579"/>
                  </a:ext>
                </a:extLst>
              </a:tr>
              <a:tr h="546185">
                <a:tc>
                  <a:txBody>
                    <a:bodyPr/>
                    <a:lstStyle/>
                    <a:p>
                      <a:r>
                        <a:rPr lang="en-US" sz="1200" i="0" dirty="0" err="1"/>
                        <a:t>Kualitas</a:t>
                      </a:r>
                      <a:r>
                        <a:rPr lang="en-US" sz="1200" i="0" dirty="0"/>
                        <a:t> </a:t>
                      </a:r>
                      <a:r>
                        <a:rPr lang="en-US" sz="1200" i="0" dirty="0" err="1"/>
                        <a:t>Eksplorasi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Progress per click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901673"/>
                  </a:ext>
                </a:extLst>
              </a:tr>
              <a:tr h="546185">
                <a:tc>
                  <a:txBody>
                    <a:bodyPr/>
                    <a:lstStyle/>
                    <a:p>
                      <a:r>
                        <a:rPr lang="en-US" sz="1200" i="0" dirty="0"/>
                        <a:t>Adaptivitas </a:t>
                      </a:r>
                      <a:r>
                        <a:rPr lang="en-US" sz="1200" i="0" dirty="0" err="1"/>
                        <a:t>Eksplorasi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err="1"/>
                        <a:t>Analisis</a:t>
                      </a:r>
                      <a:r>
                        <a:rPr lang="en-US" sz="1200" i="0" dirty="0"/>
                        <a:t> bonus CAE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146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317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BFC59-1D23-31E2-B04D-A43B4B66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0CFDEF-1AA5-515A-6F09-ADCF8A7975AF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6E4EF5-0081-DC3C-2443-84A33A0989AA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4D4945-4858-EACA-3EAB-3D18366DAF36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37168-809E-FA49-D4F9-E68B50591B85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A660D-B88C-780B-825E-89F98AD05012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Data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&amp; Hasil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180BC-8FCF-3B64-9AE4-9BB8B396C897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31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4816BD93-D69A-2C11-8474-E315AF8B9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2CA73-E16B-B3C5-91E6-D70AEB91D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80" y="1491087"/>
            <a:ext cx="5259079" cy="48124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8F79C0-740F-BC74-7479-3A2E2EE18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846" y="1491087"/>
            <a:ext cx="5259080" cy="481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25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7E32-907F-5850-BE12-C7D161EB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441985-2C48-D0BF-B582-B0120CCA25EF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80A5E-E574-B186-59D2-01033A83886E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8A6986C-5EB2-0C86-2755-C5261F5865BD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BD0FA-98F6-A826-5246-35511F38EE0B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DB42F-4B8A-D49C-A889-F006CE11D60A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Data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&amp; Hasil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57B96-B0F5-1441-E65F-B4E9B5FF8A02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32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03475988-CB86-5D83-D49B-3330B993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55BC7-A7C9-4988-2A3D-7297B4047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925" y="1543595"/>
            <a:ext cx="9322149" cy="462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86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4E8D-4173-EFD6-A6B7-71720C0D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74BA35-5BC7-E4E7-57DC-9AAD5368E4A5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D8F85F-6405-0509-6AB5-59381581C6B8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E46DBDD-03F0-411A-AB27-7F0D7B184803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56CA7-8C6F-0E31-7C95-4C8F60F4902C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63396-E612-6F6E-3A40-66BDDE3FDAC0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Data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&amp; Hasil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7212CD-E301-2E4E-3AFA-4296B004F0B9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33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4A9C875-2F5E-51B3-F534-5D8221893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A4D817-C834-A29D-2039-2497A7710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02065"/>
              </p:ext>
            </p:extLst>
          </p:nvPr>
        </p:nvGraphicFramePr>
        <p:xfrm>
          <a:off x="2944537" y="1211499"/>
          <a:ext cx="6302916" cy="5346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6">
                  <a:extLst>
                    <a:ext uri="{9D8B030D-6E8A-4147-A177-3AD203B41FA5}">
                      <a16:colId xmlns:a16="http://schemas.microsoft.com/office/drawing/2014/main" val="67735026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52177559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07416883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888960296"/>
                    </a:ext>
                  </a:extLst>
                </a:gridCol>
              </a:tblGrid>
              <a:tr h="31840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DQN</a:t>
                      </a:r>
                      <a:endParaRPr lang="LID4096" sz="1200" b="1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91375"/>
                  </a:ext>
                </a:extLst>
              </a:tr>
              <a:tr h="435917">
                <a:tc>
                  <a:txBody>
                    <a:bodyPr/>
                    <a:lstStyle/>
                    <a:p>
                      <a:r>
                        <a:rPr lang="en-US" sz="1200" i="1" dirty="0"/>
                        <a:t>Seed</a:t>
                      </a:r>
                      <a:endParaRPr lang="LID4096" sz="1200" i="1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Win Rate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Total Reward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Number of Clicks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461303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1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59.0%</a:t>
                      </a:r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12.318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6.838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74579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2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dirty="0"/>
                        <a:t>59.0%</a:t>
                      </a:r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12.058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6.578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703990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3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56.6%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10.272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6.520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39202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4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58.2%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11.530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6.626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470619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5</a:t>
                      </a:r>
                      <a:endParaRPr lang="LID4096" sz="1200" b="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57.2%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10.670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6.486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23148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b="1" i="0" dirty="0"/>
                        <a:t>Overall</a:t>
                      </a:r>
                      <a:endParaRPr lang="LID4096" sz="1200" b="1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58.0%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11.370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6.610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81501"/>
                  </a:ext>
                </a:extLst>
              </a:tr>
              <a:tr h="318409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</a:rPr>
                        <a:t>CAE-DQN</a:t>
                      </a:r>
                      <a:endParaRPr lang="LID4096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474151"/>
                  </a:ext>
                </a:extLst>
              </a:tr>
              <a:tr h="435917">
                <a:tc>
                  <a:txBody>
                    <a:bodyPr/>
                    <a:lstStyle/>
                    <a:p>
                      <a:r>
                        <a:rPr lang="en-US" sz="1200" i="1" dirty="0"/>
                        <a:t>Seed</a:t>
                      </a:r>
                      <a:endParaRPr lang="LID4096" sz="1200" i="1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Win Rate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Total Reward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Average Number of Clicks</a:t>
                      </a:r>
                      <a:endParaRPr lang="LID4096" sz="1200" i="1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188638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1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70.8%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21.140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7.164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03911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2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70.8%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20.708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6.732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33922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3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68.8%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19.580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7.044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206820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i="0" dirty="0"/>
                        <a:t>4</a:t>
                      </a:r>
                      <a:endParaRPr lang="LID4096" sz="120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65.6%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17.176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6.944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582854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5</a:t>
                      </a:r>
                      <a:endParaRPr lang="LID4096" sz="1200" b="0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72.0%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21.760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6.920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818465"/>
                  </a:ext>
                </a:extLst>
              </a:tr>
              <a:tr h="318409">
                <a:tc>
                  <a:txBody>
                    <a:bodyPr/>
                    <a:lstStyle/>
                    <a:p>
                      <a:r>
                        <a:rPr lang="en-US" sz="1200" b="1" i="0" dirty="0"/>
                        <a:t>Overall</a:t>
                      </a:r>
                      <a:endParaRPr lang="LID4096" sz="1200" b="1" i="0" dirty="0"/>
                    </a:p>
                  </a:txBody>
                  <a:tcPr marL="78646" marR="78646" marT="39324" marB="39324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69.6%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20.073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/>
                        <a:t>6.961</a:t>
                      </a:r>
                      <a:endParaRPr lang="LID4096" sz="1200" i="0" dirty="0"/>
                    </a:p>
                  </a:txBody>
                  <a:tcPr marL="78646" marR="78646" marT="39324" marB="393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928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370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C7CD-46D9-EC7A-EB85-CC0BDC30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B649FB-A820-743B-29AA-AF934907698F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698A5A-653D-4193-5D9B-97BD8402B497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8EAD162-CB7B-F398-5CE1-D384F6771F0F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7BDCC-E0B2-D0A4-A2D4-41EB740E4E99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DF830-D600-F43F-03ED-A0F6F6AF1633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Perbandingan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Performa Akhir (RQ2)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AC1B5D-7194-FD92-FE0D-B28C2E575F75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34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09F6163-A4BB-CA00-1427-9D9C57BA1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AA6C545-9970-D9F4-859C-7C80FC8EBD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947732"/>
                  </p:ext>
                </p:extLst>
              </p:nvPr>
            </p:nvGraphicFramePr>
            <p:xfrm>
              <a:off x="2128054" y="1525221"/>
              <a:ext cx="7372750" cy="46839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529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908568472"/>
                        </a:ext>
                      </a:extLst>
                    </a:gridCol>
                    <a:gridCol w="301752">
                      <a:extLst>
                        <a:ext uri="{9D8B030D-6E8A-4147-A177-3AD203B41FA5}">
                          <a16:colId xmlns:a16="http://schemas.microsoft.com/office/drawing/2014/main" val="1429632165"/>
                        </a:ext>
                      </a:extLst>
                    </a:gridCol>
                    <a:gridCol w="923544">
                      <a:extLst>
                        <a:ext uri="{9D8B030D-6E8A-4147-A177-3AD203B41FA5}">
                          <a16:colId xmlns:a16="http://schemas.microsoft.com/office/drawing/2014/main" val="3792504737"/>
                        </a:ext>
                      </a:extLst>
                    </a:gridCol>
                    <a:gridCol w="1152144">
                      <a:extLst>
                        <a:ext uri="{9D8B030D-6E8A-4147-A177-3AD203B41FA5}">
                          <a16:colId xmlns:a16="http://schemas.microsoft.com/office/drawing/2014/main" val="227234388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1302307833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3066512560"/>
                        </a:ext>
                      </a:extLst>
                    </a:gridCol>
                    <a:gridCol w="755357">
                      <a:extLst>
                        <a:ext uri="{9D8B030D-6E8A-4147-A177-3AD203B41FA5}">
                          <a16:colId xmlns:a16="http://schemas.microsoft.com/office/drawing/2014/main" val="619648636"/>
                        </a:ext>
                      </a:extLst>
                    </a:gridCol>
                    <a:gridCol w="777240">
                      <a:extLst>
                        <a:ext uri="{9D8B030D-6E8A-4147-A177-3AD203B41FA5}">
                          <a16:colId xmlns:a16="http://schemas.microsoft.com/office/drawing/2014/main" val="521306175"/>
                        </a:ext>
                      </a:extLst>
                    </a:gridCol>
                  </a:tblGrid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STATISTIK DESKRIPTIF</a:t>
                          </a:r>
                          <a:endParaRPr lang="LID4096" sz="12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EFFECT SIZE</a:t>
                          </a:r>
                          <a:endParaRPr lang="LID4096" sz="12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Group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/>
                            <a:t>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/>
                            <a:t>Mean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/>
                            <a:t>SD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Metric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Interpretation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461303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US" sz="11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58.0%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/>
                            <a:t>1.08%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Cohen’s d</a:t>
                          </a:r>
                          <a:endParaRPr lang="LID4096" sz="12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5.998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Very Large (&gt; 0.8)</a:t>
                          </a:r>
                          <a:endParaRPr lang="LID4096" sz="12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3174579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69.6%</a:t>
                          </a:r>
                          <a:endParaRPr lang="LID4096" sz="20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2.51%</a:t>
                          </a:r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4703990"/>
                      </a:ext>
                    </a:extLst>
                  </a:tr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TES NORMALITAS </a:t>
                          </a: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</a:rPr>
                            <a:t>(Shapiro-Wilk)</a:t>
                          </a:r>
                          <a:endParaRPr lang="LID4096" sz="12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CONFIDENCE INTERVALS (95%)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0474151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Group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/>
                            <a:t>W Statistics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P-value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/>
                            <a:t>Normal?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Method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Lower</a:t>
                          </a:r>
                          <a:endParaRPr lang="LID4096" sz="20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Upper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188638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/>
                            <a:t>0.8878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0.3460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Yes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Parametric (Welch </a:t>
                          </a:r>
                          <a:r>
                            <a:rPr lang="en-US" sz="1200" i="1" dirty="0" err="1"/>
                            <a:t>df</a:t>
                          </a:r>
                          <a:r>
                            <a:rPr lang="en-US" sz="1200" i="1" dirty="0"/>
                            <a:t>)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8.53%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14.67%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9103911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0.8874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0.3442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Yes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Bootstrap (10k resamples)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9.32%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13.56%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33922"/>
                      </a:ext>
                    </a:extLst>
                  </a:tr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INDEPENDENT T-TEST (</a:t>
                          </a: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</a:rPr>
                            <a:t>Welch’s T-Test</a:t>
                          </a:r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i="0" dirty="0">
                              <a:solidFill>
                                <a:schemeClr val="bg1"/>
                              </a:solidFill>
                            </a:rPr>
                            <a:t>INTERPRETASI</a:t>
                          </a:r>
                          <a:endParaRPr lang="LID4096" sz="11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20682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Test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/>
                            <a:t>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rowSpan="5"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/>
                            <a:t>CAE-DQN </a:t>
                          </a:r>
                          <a:r>
                            <a:rPr lang="en-US" sz="1600" b="0" i="1" dirty="0" err="1"/>
                            <a:t>secara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signifikan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mengungguli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1" i="1" dirty="0"/>
                            <a:t>DQN</a:t>
                          </a:r>
                          <a:endParaRPr lang="LID4096" sz="16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582854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T-Statistic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9.4840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3818465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Degrees of Freedom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5.42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0843676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P-Value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0.000141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59385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Significant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=0.05</m:t>
                              </m:r>
                            </m:oMath>
                          </a14:m>
                          <a:r>
                            <a:rPr lang="en-US" sz="1200" b="0" i="1" dirty="0"/>
                            <a:t>)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Yes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18378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AA6C545-9970-D9F4-859C-7C80FC8EBD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947732"/>
                  </p:ext>
                </p:extLst>
              </p:nvPr>
            </p:nvGraphicFramePr>
            <p:xfrm>
              <a:off x="2128054" y="1525221"/>
              <a:ext cx="7372750" cy="46839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529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908568472"/>
                        </a:ext>
                      </a:extLst>
                    </a:gridCol>
                    <a:gridCol w="301752">
                      <a:extLst>
                        <a:ext uri="{9D8B030D-6E8A-4147-A177-3AD203B41FA5}">
                          <a16:colId xmlns:a16="http://schemas.microsoft.com/office/drawing/2014/main" val="1429632165"/>
                        </a:ext>
                      </a:extLst>
                    </a:gridCol>
                    <a:gridCol w="923544">
                      <a:extLst>
                        <a:ext uri="{9D8B030D-6E8A-4147-A177-3AD203B41FA5}">
                          <a16:colId xmlns:a16="http://schemas.microsoft.com/office/drawing/2014/main" val="3792504737"/>
                        </a:ext>
                      </a:extLst>
                    </a:gridCol>
                    <a:gridCol w="1152144">
                      <a:extLst>
                        <a:ext uri="{9D8B030D-6E8A-4147-A177-3AD203B41FA5}">
                          <a16:colId xmlns:a16="http://schemas.microsoft.com/office/drawing/2014/main" val="227234388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1302307833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3066512560"/>
                        </a:ext>
                      </a:extLst>
                    </a:gridCol>
                    <a:gridCol w="755357">
                      <a:extLst>
                        <a:ext uri="{9D8B030D-6E8A-4147-A177-3AD203B41FA5}">
                          <a16:colId xmlns:a16="http://schemas.microsoft.com/office/drawing/2014/main" val="619648636"/>
                        </a:ext>
                      </a:extLst>
                    </a:gridCol>
                    <a:gridCol w="777240">
                      <a:extLst>
                        <a:ext uri="{9D8B030D-6E8A-4147-A177-3AD203B41FA5}">
                          <a16:colId xmlns:a16="http://schemas.microsoft.com/office/drawing/2014/main" val="521306175"/>
                        </a:ext>
                      </a:extLst>
                    </a:gridCol>
                  </a:tblGrid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STATISTIK DESKRIPTIF</a:t>
                          </a:r>
                          <a:endParaRPr lang="LID4096" sz="1200" b="1" dirty="0"/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EFFECT SIZE</a:t>
                          </a:r>
                          <a:endParaRPr lang="LID4096" sz="12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Group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/>
                            <a:t>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/>
                            <a:t>Mean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/>
                            <a:t>SD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Metric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Interpretation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461303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US" sz="11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58.0%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/>
                            <a:t>1.08%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Cohen’s d</a:t>
                          </a:r>
                          <a:endParaRPr lang="LID4096" sz="12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5.998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Very Large (&gt; 0.8)</a:t>
                          </a:r>
                          <a:endParaRPr lang="LID4096" sz="12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3174579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69.6%</a:t>
                          </a:r>
                          <a:endParaRPr lang="LID4096" sz="20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2.51%</a:t>
                          </a:r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LID4096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4703990"/>
                      </a:ext>
                    </a:extLst>
                  </a:tr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TES NORMALITAS </a:t>
                          </a: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</a:rPr>
                            <a:t>(Shapiro-Wilk)</a:t>
                          </a:r>
                          <a:endParaRPr lang="LID4096" sz="12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CONFIDENCE INTERVALS (95%)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0474151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Group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/>
                            <a:t>W Statistics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P-value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1"/>
                            <a:t>Normal?</a:t>
                          </a:r>
                          <a:endParaRPr lang="LID4096" sz="11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Method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Lower</a:t>
                          </a:r>
                          <a:endParaRPr lang="LID4096" sz="20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Upper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188638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/>
                            <a:t>0.8878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0.3460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Yes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Parametric (Welch </a:t>
                          </a:r>
                          <a:r>
                            <a:rPr lang="en-US" sz="1200" i="1" dirty="0" err="1"/>
                            <a:t>df</a:t>
                          </a:r>
                          <a:r>
                            <a:rPr lang="en-US" sz="1200" i="1" dirty="0"/>
                            <a:t>)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8.53%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14.67%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9103911"/>
                      </a:ext>
                    </a:extLst>
                  </a:tr>
                  <a:tr h="446276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0.8874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0.3442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i="0" dirty="0"/>
                            <a:t>Yes</a:t>
                          </a:r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Bootstrap (10k resamples)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9.32%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13.56%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733922"/>
                      </a:ext>
                    </a:extLst>
                  </a:tr>
                  <a:tr h="325975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INDEPENDENT T-TEST (</a:t>
                          </a: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</a:rPr>
                            <a:t>Welch’s T-Test</a:t>
                          </a:r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i="0" dirty="0">
                              <a:solidFill>
                                <a:schemeClr val="bg1"/>
                              </a:solidFill>
                            </a:rPr>
                            <a:t>INTERPRETASI</a:t>
                          </a:r>
                          <a:endParaRPr lang="LID4096" sz="11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20682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Test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/>
                            <a:t>Value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rowSpan="5"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/>
                            <a:t>CAE-DQN </a:t>
                          </a:r>
                          <a:r>
                            <a:rPr lang="en-US" sz="1600" b="0" i="1" dirty="0" err="1"/>
                            <a:t>secara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signifikan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mengungguli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1" i="1" dirty="0"/>
                            <a:t>DQN</a:t>
                          </a:r>
                          <a:endParaRPr lang="LID4096" sz="16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rowSpan="5"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582854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T-Statistic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9.4840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3818465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Degrees of Freedom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5.42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0843676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r>
                            <a:rPr lang="en-US" sz="1200" b="0" i="1" dirty="0"/>
                            <a:t>P-Value</a:t>
                          </a:r>
                          <a:endParaRPr lang="LID4096" sz="1200" b="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/>
                            <a:t>0.000141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59385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369" t="-1325926" r="-347970" b="-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Yes</a:t>
                          </a:r>
                          <a:endParaRPr lang="LID4096" sz="1200" b="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4"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 v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1837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9572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A733-B64F-6DFB-696B-15D783B5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EB1DA8-2D9F-7993-D750-B3E88409E86E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274F07-9DFC-1448-FE28-6F5625F7D43A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A3A1170-AAB6-D694-9F42-8972FCEAC5E1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8D05A2-FC5D-C1ED-4C6D-75363AD3C55A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555B59-E2BB-F132-CA23-0FB26250B8CF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 Sampel (RQ2)</a:t>
            </a:r>
            <a:endParaRPr lang="en-US" sz="1200" i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C30489-EFF8-BC65-F37F-5E1451CDCD70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35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DC9D43F8-B3BD-7B7F-D300-8440B19B6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90337E-4F75-B110-F1C1-453F2ADB4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46178"/>
              </p:ext>
            </p:extLst>
          </p:nvPr>
        </p:nvGraphicFramePr>
        <p:xfrm>
          <a:off x="2128054" y="1890034"/>
          <a:ext cx="7386353" cy="403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800">
                  <a:extLst>
                    <a:ext uri="{9D8B030D-6E8A-4147-A177-3AD203B41FA5}">
                      <a16:colId xmlns:a16="http://schemas.microsoft.com/office/drawing/2014/main" val="677350261"/>
                    </a:ext>
                  </a:extLst>
                </a:gridCol>
                <a:gridCol w="212538">
                  <a:extLst>
                    <a:ext uri="{9D8B030D-6E8A-4147-A177-3AD203B41FA5}">
                      <a16:colId xmlns:a16="http://schemas.microsoft.com/office/drawing/2014/main" val="908568472"/>
                    </a:ext>
                  </a:extLst>
                </a:gridCol>
                <a:gridCol w="893886">
                  <a:extLst>
                    <a:ext uri="{9D8B030D-6E8A-4147-A177-3AD203B41FA5}">
                      <a16:colId xmlns:a16="http://schemas.microsoft.com/office/drawing/2014/main" val="1429632165"/>
                    </a:ext>
                  </a:extLst>
                </a:gridCol>
                <a:gridCol w="186430">
                  <a:extLst>
                    <a:ext uri="{9D8B030D-6E8A-4147-A177-3AD203B41FA5}">
                      <a16:colId xmlns:a16="http://schemas.microsoft.com/office/drawing/2014/main" val="379250473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991275431"/>
                    </a:ext>
                  </a:extLst>
                </a:gridCol>
                <a:gridCol w="1177350">
                  <a:extLst>
                    <a:ext uri="{9D8B030D-6E8A-4147-A177-3AD203B41FA5}">
                      <a16:colId xmlns:a16="http://schemas.microsoft.com/office/drawing/2014/main" val="27549575"/>
                    </a:ext>
                  </a:extLst>
                </a:gridCol>
                <a:gridCol w="3343109">
                  <a:extLst>
                    <a:ext uri="{9D8B030D-6E8A-4147-A177-3AD203B41FA5}">
                      <a16:colId xmlns:a16="http://schemas.microsoft.com/office/drawing/2014/main" val="1302307833"/>
                    </a:ext>
                  </a:extLst>
                </a:gridCol>
              </a:tblGrid>
              <a:tr h="32597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AREA UNDER CURVE (AUC) {4000 EPISODE}</a:t>
                      </a:r>
                      <a:endParaRPr lang="LID4096" sz="1200" b="1" dirty="0"/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INTERPRETASI</a:t>
                      </a:r>
                      <a:endParaRPr lang="LID4096" sz="1100" b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91375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200" i="1" dirty="0"/>
                        <a:t>Model</a:t>
                      </a:r>
                      <a:endParaRPr lang="LID4096" sz="1200" i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AUC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200" i="1" dirty="0" err="1"/>
                        <a:t>Relatif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 err="1"/>
                        <a:t>terhadap</a:t>
                      </a:r>
                      <a:r>
                        <a:rPr lang="en-US" sz="1200" i="1" dirty="0"/>
                        <a:t> DQN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lang="en-ID" sz="16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CAE‑DQN 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2.99x AUC </a:t>
                      </a:r>
                      <a:r>
                        <a:rPr lang="en-ID" sz="16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DQN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menunjukkan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kumulatif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(sample efficiency) yang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jauh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baik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sepanjang</a:t>
                      </a:r>
                      <a:r>
                        <a:rPr lang="en-ID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40,000 episode </a:t>
                      </a:r>
                      <a:r>
                        <a:rPr lang="en-ID" sz="16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pertama</a:t>
                      </a:r>
                      <a:endParaRPr lang="LID4096" sz="1000" b="0" i="1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461303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200" i="0" dirty="0"/>
                        <a:t>DQN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0" dirty="0"/>
                        <a:t>7835.0</a:t>
                      </a:r>
                      <a:endParaRPr lang="LID4096" sz="1200" i="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i="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200" i="0" dirty="0"/>
                        <a:t>1.00x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74579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200" i="0" dirty="0"/>
                        <a:t>CAE-DQN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0" dirty="0"/>
                        <a:t>23400.0</a:t>
                      </a:r>
                      <a:endParaRPr lang="LID4096" sz="1200" i="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1200" dirty="0"/>
                        <a:t>2.99x</a:t>
                      </a:r>
                      <a:endParaRPr lang="LID4096" sz="120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703990"/>
                  </a:ext>
                </a:extLst>
              </a:tr>
              <a:tr h="32597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</a:rPr>
                        <a:t>EPISODE UNTUK MENCAPAI 50% WR</a:t>
                      </a:r>
                      <a:endParaRPr lang="LID4096" sz="12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LID4096" sz="1100" b="1" i="0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474151"/>
                  </a:ext>
                </a:extLst>
              </a:tr>
              <a:tr h="325975">
                <a:tc gridSpan="3">
                  <a:txBody>
                    <a:bodyPr/>
                    <a:lstStyle/>
                    <a:p>
                      <a:r>
                        <a:rPr lang="en-US" sz="1200" i="1" dirty="0"/>
                        <a:t>Model</a:t>
                      </a:r>
                      <a:endParaRPr lang="LID4096" sz="1200" i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200" i="1"/>
                        <a:t>Episode</a:t>
                      </a:r>
                      <a:endParaRPr sz="200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188638"/>
                  </a:ext>
                </a:extLst>
              </a:tr>
              <a:tr h="325975">
                <a:tc gridSpan="3">
                  <a:txBody>
                    <a:bodyPr/>
                    <a:lstStyle/>
                    <a:p>
                      <a:r>
                        <a:rPr lang="en-US" sz="1200" i="0" dirty="0"/>
                        <a:t>DQN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200" i="0"/>
                        <a:t>65,000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03911"/>
                  </a:ext>
                </a:extLst>
              </a:tr>
              <a:tr h="325975">
                <a:tc gridSpan="3">
                  <a:txBody>
                    <a:bodyPr/>
                    <a:lstStyle/>
                    <a:p>
                      <a:r>
                        <a:rPr lang="en-US" sz="1200" i="0" dirty="0"/>
                        <a:t>CAE-DQN</a:t>
                      </a:r>
                      <a:endParaRPr lang="LID4096" sz="12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200" i="0" dirty="0"/>
                        <a:t>6,000</a:t>
                      </a:r>
                      <a:endParaRPr lang="LID4096" sz="12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33922"/>
                  </a:ext>
                </a:extLst>
              </a:tr>
              <a:tr h="32597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</a:rPr>
                        <a:t>TREND TEST </a:t>
                      </a:r>
                      <a:r>
                        <a:rPr lang="en-US" sz="1200" b="1" i="1" dirty="0">
                          <a:solidFill>
                            <a:schemeClr val="bg1"/>
                          </a:solidFill>
                        </a:rPr>
                        <a:t>(Mann-Kendall)</a:t>
                      </a:r>
                      <a:endParaRPr lang="LID4096" sz="12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b="1" i="1" dirty="0">
                        <a:solidFill>
                          <a:schemeClr val="bg1"/>
                        </a:solidFill>
                      </a:endParaRP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0515" marR="80515" marT="40258" marB="4025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206820"/>
                  </a:ext>
                </a:extLst>
              </a:tr>
              <a:tr h="3259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Model</a:t>
                      </a:r>
                      <a:endParaRPr lang="LID4096" sz="1200" i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Trend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sz="11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P-Value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/>
                        <a:t>Slope (</a:t>
                      </a:r>
                      <a:r>
                        <a:rPr lang="en-US" sz="1200" i="1" dirty="0" err="1"/>
                        <a:t>sen</a:t>
                      </a:r>
                      <a:r>
                        <a:rPr lang="en-US" sz="1200" i="1" dirty="0"/>
                        <a:t>)</a:t>
                      </a:r>
                      <a:endParaRPr lang="LID4096" sz="12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582854"/>
                  </a:ext>
                </a:extLst>
              </a:tr>
              <a:tr h="325975">
                <a:tc gridSpan="2">
                  <a:txBody>
                    <a:bodyPr/>
                    <a:lstStyle/>
                    <a:p>
                      <a:r>
                        <a:rPr lang="en-US" sz="1200" b="0" i="0" dirty="0"/>
                        <a:t>DQN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b="0" i="0" dirty="0"/>
                        <a:t>Naik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0.0000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0.006530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818465"/>
                  </a:ext>
                </a:extLst>
              </a:tr>
              <a:tr h="325975">
                <a:tc gridSpan="2">
                  <a:txBody>
                    <a:bodyPr/>
                    <a:lstStyle/>
                    <a:p>
                      <a:r>
                        <a:rPr lang="en-US" sz="1200" b="0" i="0" dirty="0"/>
                        <a:t>CAE-DQN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b="0" i="0" dirty="0"/>
                        <a:t>Turun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 sz="11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0.0000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/>
                        <a:t>-0.005942</a:t>
                      </a:r>
                      <a:endParaRPr lang="LID4096" sz="1200" b="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43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798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637B-825C-9993-597D-61E51CF2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26D496-F641-7096-3342-25F93A3172C1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F23F5D-63D5-D243-9963-4C3DCAADB0EB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D591816-8950-A8F9-F022-04D83B2ED10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649F4-A530-92A9-E900-B1AD7F2FA498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659CA-84E5-8069-96EA-DB5EBFDFF961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Properti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Self-Annealing (RQ3)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30C9D-0C82-BD2D-F887-F292B5BB080B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36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F879A18-5879-EE67-4F4F-EE761A5E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F4B45-8439-1C9B-3160-CD306A08F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635" y="1736811"/>
            <a:ext cx="9012661" cy="446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37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BB84-DA47-080A-FF28-7970CB05A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AB5E7E-B0C4-D44D-5BA1-EFF991989B38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FAE946-AC45-CC9F-0DC7-019E4040FA6E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51859A6-41E6-6388-1126-B9147E0576DB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41011A-94F1-37A9-19BF-2A09652470DC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4F412-779D-FFA9-E4E2-45D651EF62AC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Kualitas Eksplorasi (RQ4)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34A73-1225-0D6A-B5FE-89F44F495114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37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03600FC-44B1-D4EF-0415-35338119C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8D2F55-AF6D-CFB3-2651-86650324B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595569"/>
              </p:ext>
            </p:extLst>
          </p:nvPr>
        </p:nvGraphicFramePr>
        <p:xfrm>
          <a:off x="2402818" y="2569152"/>
          <a:ext cx="7386353" cy="1868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986">
                  <a:extLst>
                    <a:ext uri="{9D8B030D-6E8A-4147-A177-3AD203B41FA5}">
                      <a16:colId xmlns:a16="http://schemas.microsoft.com/office/drawing/2014/main" val="67735026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908568472"/>
                    </a:ext>
                  </a:extLst>
                </a:gridCol>
                <a:gridCol w="1480426">
                  <a:extLst>
                    <a:ext uri="{9D8B030D-6E8A-4147-A177-3AD203B41FA5}">
                      <a16:colId xmlns:a16="http://schemas.microsoft.com/office/drawing/2014/main" val="3792504737"/>
                    </a:ext>
                  </a:extLst>
                </a:gridCol>
                <a:gridCol w="3343109">
                  <a:extLst>
                    <a:ext uri="{9D8B030D-6E8A-4147-A177-3AD203B41FA5}">
                      <a16:colId xmlns:a16="http://schemas.microsoft.com/office/drawing/2014/main" val="1302307833"/>
                    </a:ext>
                  </a:extLst>
                </a:gridCol>
              </a:tblGrid>
              <a:tr h="32597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EXPLORATION QUALITY (PROGRESS PER CLICK)</a:t>
                      </a:r>
                    </a:p>
                    <a:p>
                      <a:pPr algn="ctr"/>
                      <a:r>
                        <a:rPr lang="en-US" sz="1100" b="1" dirty="0"/>
                        <a:t>10,000 EPISODE PERTAMA</a:t>
                      </a:r>
                    </a:p>
                  </a:txBody>
                  <a:tcPr marL="80515" marR="80515" marT="40258" marB="40258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INTERPRETASI</a:t>
                      </a:r>
                      <a:endParaRPr lang="LID4096" sz="1100" b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91375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400" i="1" dirty="0"/>
                        <a:t>Model</a:t>
                      </a:r>
                      <a:endParaRPr lang="LID4096" sz="1400" i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Mean</a:t>
                      </a:r>
                      <a:endParaRPr lang="LID4096" sz="14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Median</a:t>
                      </a:r>
                      <a:endParaRPr lang="LID4096" sz="1400" i="1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sv-SE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Rata-rata progress per click </a:t>
                      </a:r>
                      <a:r>
                        <a:rPr lang="sv-SE" sz="16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CAE-DQN</a:t>
                      </a:r>
                      <a:r>
                        <a:rPr lang="sv-SE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12% lebih tinggi daripada </a:t>
                      </a:r>
                      <a:r>
                        <a:rPr lang="sv-SE" sz="16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DQN</a:t>
                      </a:r>
                      <a:r>
                        <a:rPr lang="sv-SE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10,000 episode awal, menandakan eksplorasi yang lebih terarah dan informatif.</a:t>
                      </a:r>
                      <a:endParaRPr lang="LID4096" sz="1050" b="0" i="1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461303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400" i="0" dirty="0"/>
                        <a:t>DQN</a:t>
                      </a:r>
                      <a:endParaRPr lang="LID4096" sz="14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/>
                        <a:t>0.734</a:t>
                      </a:r>
                      <a:endParaRPr lang="LID4096" sz="1400" i="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/>
                        <a:t>0.750</a:t>
                      </a:r>
                      <a:endParaRPr lang="LID4096" sz="14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LID4096" sz="1100" i="1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7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i="0" dirty="0"/>
                        <a:t>CAE-DQN</a:t>
                      </a:r>
                      <a:endParaRPr lang="LID4096" sz="1400" i="0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dirty="0"/>
                        <a:t>0.823</a:t>
                      </a:r>
                      <a:endParaRPr lang="LID4096" sz="1400" i="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0.857</a:t>
                      </a:r>
                      <a:endParaRPr lang="LID4096" sz="140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LID4096" sz="1100" i="0"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703990"/>
                  </a:ext>
                </a:extLst>
              </a:tr>
              <a:tr h="325975">
                <a:tc>
                  <a:txBody>
                    <a:bodyPr/>
                    <a:lstStyle/>
                    <a:p>
                      <a:r>
                        <a:rPr lang="en-US" sz="1400" i="0" dirty="0" err="1"/>
                        <a:t>Rasio</a:t>
                      </a:r>
                      <a:r>
                        <a:rPr lang="en-US" sz="1400" i="0" dirty="0"/>
                        <a:t> CAE/DQN </a:t>
                      </a:r>
                      <a:r>
                        <a:rPr lang="en-US" sz="1400" i="1" dirty="0"/>
                        <a:t>(mean)</a:t>
                      </a:r>
                      <a:endParaRPr lang="LID4096" sz="1400" i="1" dirty="0"/>
                    </a:p>
                  </a:txBody>
                  <a:tcPr marL="80515" marR="80515" marT="40258" marB="4025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1.12x</a:t>
                      </a:r>
                      <a:endParaRPr lang="LID4096" sz="1400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0515" marR="80515" marT="40258" marB="402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LID4096" sz="1100" b="1" i="1" dirty="0"/>
                    </a:p>
                  </a:txBody>
                  <a:tcPr marL="80515" marR="80515" marT="40258" marB="402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536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701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04DC-FFE3-45CA-49B4-F571504E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1B7785-56B4-3234-9818-ABB6EA270B40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9B642A-F42D-EC33-2963-36209225CDE3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1CCC99F-594E-E5FA-2837-4630EFC542C3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12ECA4-07FF-49D0-15E3-EBDD61362657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6EA4AF-2CCD-6EB0-D52E-49BAD42E6C03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Stabilitas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Pelatihan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&amp;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Degradasi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Performa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1F709-6A36-70FE-343B-2B1661A46F2E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38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F5D0962E-711C-02D4-1703-AB71169B2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3F4091A-EC1D-495A-B295-FDF814C734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4795321"/>
                  </p:ext>
                </p:extLst>
              </p:nvPr>
            </p:nvGraphicFramePr>
            <p:xfrm>
              <a:off x="2234779" y="1309697"/>
              <a:ext cx="7386356" cy="521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0986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400637">
                      <a:extLst>
                        <a:ext uri="{9D8B030D-6E8A-4147-A177-3AD203B41FA5}">
                          <a16:colId xmlns:a16="http://schemas.microsoft.com/office/drawing/2014/main" val="908568472"/>
                        </a:ext>
                      </a:extLst>
                    </a:gridCol>
                    <a:gridCol w="541196">
                      <a:extLst>
                        <a:ext uri="{9D8B030D-6E8A-4147-A177-3AD203B41FA5}">
                          <a16:colId xmlns:a16="http://schemas.microsoft.com/office/drawing/2014/main" val="4148509873"/>
                        </a:ext>
                      </a:extLst>
                    </a:gridCol>
                    <a:gridCol w="1480427">
                      <a:extLst>
                        <a:ext uri="{9D8B030D-6E8A-4147-A177-3AD203B41FA5}">
                          <a16:colId xmlns:a16="http://schemas.microsoft.com/office/drawing/2014/main" val="3792504737"/>
                        </a:ext>
                      </a:extLst>
                    </a:gridCol>
                    <a:gridCol w="3343110">
                      <a:extLst>
                        <a:ext uri="{9D8B030D-6E8A-4147-A177-3AD203B41FA5}">
                          <a16:colId xmlns:a16="http://schemas.microsoft.com/office/drawing/2014/main" val="1302307833"/>
                        </a:ext>
                      </a:extLst>
                    </a:gridCol>
                  </a:tblGrid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STD.DEV WR</a:t>
                          </a: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INTERPRETASI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Model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Std Dev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 err="1"/>
                            <a:t>Interpretasi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rowSpan="15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/>
                            <a:t>CAE-DQN </a:t>
                          </a:r>
                          <a:r>
                            <a:rPr lang="en-US" sz="1600" b="0" i="1" dirty="0" err="1"/>
                            <a:t>menunjukkan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variansi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lebih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tinggi</a:t>
                          </a:r>
                          <a:r>
                            <a:rPr lang="en-US" sz="1600" b="0" i="1" dirty="0"/>
                            <a:t> dan slope </a:t>
                          </a:r>
                          <a:r>
                            <a:rPr lang="en-US" sz="1600" b="0" i="1" dirty="0" err="1"/>
                            <a:t>negatif</a:t>
                          </a:r>
                          <a:r>
                            <a:rPr lang="en-US" sz="1600" b="0" i="1" dirty="0"/>
                            <a:t> yang </a:t>
                          </a:r>
                          <a:r>
                            <a:rPr lang="en-US" sz="1600" b="0" i="1" dirty="0" err="1"/>
                            <a:t>signifikan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terhadap</a:t>
                          </a:r>
                          <a:r>
                            <a:rPr lang="en-US" sz="1600" b="0" i="1" dirty="0"/>
                            <a:t> 30,000 episode </a:t>
                          </a:r>
                          <a:r>
                            <a:rPr lang="en-US" sz="1600" b="0" i="1" dirty="0" err="1"/>
                            <a:t>terakhir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pelatihan</a:t>
                          </a:r>
                          <a:r>
                            <a:rPr lang="en-US" sz="1600" b="0" i="1" dirty="0"/>
                            <a:t>. Fenomena </a:t>
                          </a:r>
                          <a:r>
                            <a:rPr lang="en-US" sz="1600" b="0" i="1" dirty="0" err="1"/>
                            <a:t>ini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menunjukkan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adanya</a:t>
                          </a:r>
                          <a:r>
                            <a:rPr lang="en-US" sz="1600" b="0" i="1" dirty="0"/>
                            <a:t> policy collapse </a:t>
                          </a:r>
                          <a:r>
                            <a:rPr lang="en-US" sz="1600" b="0" i="1" dirty="0" err="1"/>
                            <a:t>saat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pelatihan</a:t>
                          </a:r>
                          <a:endParaRPr lang="LID4096" sz="16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461303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0.0297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 err="1"/>
                            <a:t>Lebih</a:t>
                          </a:r>
                          <a:r>
                            <a:rPr lang="en-US" sz="1200" i="0" dirty="0"/>
                            <a:t> Stabil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174579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0.1668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Lebih Tidak Stabil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703990"/>
                      </a:ext>
                    </a:extLst>
                  </a:tr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REGRESI LINIER CAE-DQN (50-80k EPISODE)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6351111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19766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Slope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-0.000016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1415067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Intercept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1.367540</a:t>
                          </a: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159544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P-Value (slope)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0.000000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802752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R-Squared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0.7785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4266183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Std Error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0.000002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81610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Significant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=0.05</m:t>
                              </m:r>
                            </m:oMath>
                          </a14:m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911583"/>
                      </a:ext>
                    </a:extLst>
                  </a:tr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MEAN WIN RATE (30,000 EPISODE TERAKHIR)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LID4096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586181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Mean Win Rate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888239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DQN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46.90%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48033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CAE-DQN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31.55%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1657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3F4091A-EC1D-495A-B295-FDF814C734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4795321"/>
                  </p:ext>
                </p:extLst>
              </p:nvPr>
            </p:nvGraphicFramePr>
            <p:xfrm>
              <a:off x="2234779" y="1309697"/>
              <a:ext cx="7386356" cy="521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0986">
                      <a:extLst>
                        <a:ext uri="{9D8B030D-6E8A-4147-A177-3AD203B41FA5}">
                          <a16:colId xmlns:a16="http://schemas.microsoft.com/office/drawing/2014/main" val="677350261"/>
                        </a:ext>
                      </a:extLst>
                    </a:gridCol>
                    <a:gridCol w="400637">
                      <a:extLst>
                        <a:ext uri="{9D8B030D-6E8A-4147-A177-3AD203B41FA5}">
                          <a16:colId xmlns:a16="http://schemas.microsoft.com/office/drawing/2014/main" val="908568472"/>
                        </a:ext>
                      </a:extLst>
                    </a:gridCol>
                    <a:gridCol w="541196">
                      <a:extLst>
                        <a:ext uri="{9D8B030D-6E8A-4147-A177-3AD203B41FA5}">
                          <a16:colId xmlns:a16="http://schemas.microsoft.com/office/drawing/2014/main" val="4148509873"/>
                        </a:ext>
                      </a:extLst>
                    </a:gridCol>
                    <a:gridCol w="1480427">
                      <a:extLst>
                        <a:ext uri="{9D8B030D-6E8A-4147-A177-3AD203B41FA5}">
                          <a16:colId xmlns:a16="http://schemas.microsoft.com/office/drawing/2014/main" val="3792504737"/>
                        </a:ext>
                      </a:extLst>
                    </a:gridCol>
                    <a:gridCol w="3343110">
                      <a:extLst>
                        <a:ext uri="{9D8B030D-6E8A-4147-A177-3AD203B41FA5}">
                          <a16:colId xmlns:a16="http://schemas.microsoft.com/office/drawing/2014/main" val="1302307833"/>
                        </a:ext>
                      </a:extLst>
                    </a:gridCol>
                  </a:tblGrid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STD.DEV WR</a:t>
                          </a: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/>
                            <a:t>INTERPRETASI</a:t>
                          </a:r>
                          <a:endParaRPr lang="LID4096" sz="1100" b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391375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Model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Std Dev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 err="1"/>
                            <a:t>Interpretasi</a:t>
                          </a:r>
                          <a:endParaRPr lang="LID4096" sz="1200" i="1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rowSpan="15"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/>
                            <a:t>CAE-DQN </a:t>
                          </a:r>
                          <a:r>
                            <a:rPr lang="en-US" sz="1600" b="0" i="1" dirty="0" err="1"/>
                            <a:t>menunjukkan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variansi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lebih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tinggi</a:t>
                          </a:r>
                          <a:r>
                            <a:rPr lang="en-US" sz="1600" b="0" i="1" dirty="0"/>
                            <a:t> dan slope </a:t>
                          </a:r>
                          <a:r>
                            <a:rPr lang="en-US" sz="1600" b="0" i="1" dirty="0" err="1"/>
                            <a:t>negatif</a:t>
                          </a:r>
                          <a:r>
                            <a:rPr lang="en-US" sz="1600" b="0" i="1" dirty="0"/>
                            <a:t> yang </a:t>
                          </a:r>
                          <a:r>
                            <a:rPr lang="en-US" sz="1600" b="0" i="1" dirty="0" err="1"/>
                            <a:t>signifikan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terhadap</a:t>
                          </a:r>
                          <a:r>
                            <a:rPr lang="en-US" sz="1600" b="0" i="1" dirty="0"/>
                            <a:t> 30,000 episode </a:t>
                          </a:r>
                          <a:r>
                            <a:rPr lang="en-US" sz="1600" b="0" i="1" dirty="0" err="1"/>
                            <a:t>terakhir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pelatihan</a:t>
                          </a:r>
                          <a:r>
                            <a:rPr lang="en-US" sz="1600" b="0" i="1" dirty="0"/>
                            <a:t>. Fenomena </a:t>
                          </a:r>
                          <a:r>
                            <a:rPr lang="en-US" sz="1600" b="0" i="1" dirty="0" err="1"/>
                            <a:t>ini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menunjukkan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adanya</a:t>
                          </a:r>
                          <a:r>
                            <a:rPr lang="en-US" sz="1600" b="0" i="1" dirty="0"/>
                            <a:t> policy collapse </a:t>
                          </a:r>
                          <a:r>
                            <a:rPr lang="en-US" sz="1600" b="0" i="1" dirty="0" err="1"/>
                            <a:t>saat</a:t>
                          </a:r>
                          <a:r>
                            <a:rPr lang="en-US" sz="1600" b="0" i="1" dirty="0"/>
                            <a:t> </a:t>
                          </a:r>
                          <a:r>
                            <a:rPr lang="en-US" sz="1600" b="0" i="1" dirty="0" err="1"/>
                            <a:t>pelatihan</a:t>
                          </a:r>
                          <a:endParaRPr lang="LID4096" sz="16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461303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0.0297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 err="1"/>
                            <a:t>Lebih</a:t>
                          </a:r>
                          <a:r>
                            <a:rPr lang="en-US" sz="1200" i="0" dirty="0"/>
                            <a:t> Stabil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174579"/>
                      </a:ext>
                    </a:extLst>
                  </a:tr>
                  <a:tr h="325975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CAE-DQN</a:t>
                          </a:r>
                          <a:endParaRPr lang="LID4096" sz="1200" i="0" dirty="0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0.1668</a:t>
                          </a:r>
                          <a:endParaRPr lang="LID4096" sz="12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Lebih Tidak Stabil</a:t>
                          </a:r>
                          <a:endParaRPr lang="LID4096" sz="12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4703990"/>
                      </a:ext>
                    </a:extLst>
                  </a:tr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REGRESI LINIER CAE-DQN (50-80k EPISODE)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 sz="1100" i="0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LID4096" sz="1100" dirty="0"/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6351111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19766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301" t="-596296" r="-266566" b="-89629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-0.000016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1415067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301" t="-696296" r="-266566" b="-79629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1.367540</a:t>
                          </a: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159544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P-Value (slope)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0.000000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3802752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R-Squared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0.7785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4266183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Std Error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0.000002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81610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301" t="-1092593" r="-266566" b="-4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911583"/>
                      </a:ext>
                    </a:extLst>
                  </a:tr>
                  <a:tr h="325975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i="0" dirty="0">
                              <a:solidFill>
                                <a:schemeClr val="bg1"/>
                              </a:solidFill>
                            </a:rPr>
                            <a:t>MEAN WIN RATE (30,000 EPISODE TERAKHIR)</a:t>
                          </a:r>
                          <a:endParaRPr lang="LID4096" sz="12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80515" marR="80515" marT="40258" marB="40258"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LID4096" sz="11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586181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1" dirty="0">
                              <a:solidFill>
                                <a:schemeClr val="tx1"/>
                              </a:solidFill>
                            </a:rPr>
                            <a:t>Mean Win Rate</a:t>
                          </a:r>
                          <a:endParaRPr lang="LID4096" sz="12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8882390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DQN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46.90%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480339"/>
                      </a:ext>
                    </a:extLst>
                  </a:tr>
                  <a:tr h="325975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CAE-DQN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i="0" dirty="0">
                              <a:solidFill>
                                <a:schemeClr val="tx1"/>
                              </a:solidFill>
                            </a:rPr>
                            <a:t>31.55%</a:t>
                          </a:r>
                          <a:endParaRPr lang="LID4096" sz="12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80515" marR="80515" marT="40258" marB="40258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LID4096" sz="1100" b="1" i="1" dirty="0"/>
                        </a:p>
                      </a:txBody>
                      <a:tcPr marL="80515" marR="80515" marT="40258" marB="4025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1657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2077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A6C2-5390-29E9-EBDE-011BD67B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1C2860-625D-9911-56E2-EB10149C49D1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79E18F-6E6F-77D7-64B0-AF480D279E47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CBB139E-EAC8-E8C8-E9EE-F2C36836F490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9003AC-8661-95D9-B2BE-5F3F4D15BB9A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BB9843-FF66-3745-112D-B7635A5CF92A}"/>
              </a:ext>
            </a:extLst>
          </p:cNvPr>
          <p:cNvSpPr/>
          <p:nvPr/>
        </p:nvSpPr>
        <p:spPr>
          <a:xfrm>
            <a:off x="10224654" y="1135177"/>
            <a:ext cx="167910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Rangkuman Temuan </a:t>
            </a:r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Kuantitatif</a:t>
            </a:r>
            <a:endParaRPr lang="en-US" sz="1200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C866E-3EC1-6503-2137-039908FE4A6C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39</a:t>
            </a:r>
            <a:endParaRPr lang="en-US" b="1" cap="none" spc="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82C60AB7-157D-731F-50A7-ABD774E2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A1B5778-9F74-DBC5-6B0E-D7D4E8AB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123632"/>
                  </p:ext>
                </p:extLst>
              </p:nvPr>
            </p:nvGraphicFramePr>
            <p:xfrm>
              <a:off x="1166870" y="1827621"/>
              <a:ext cx="9858249" cy="402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9210">
                      <a:extLst>
                        <a:ext uri="{9D8B030D-6E8A-4147-A177-3AD203B41FA5}">
                          <a16:colId xmlns:a16="http://schemas.microsoft.com/office/drawing/2014/main" val="3460722941"/>
                        </a:ext>
                      </a:extLst>
                    </a:gridCol>
                    <a:gridCol w="3182112">
                      <a:extLst>
                        <a:ext uri="{9D8B030D-6E8A-4147-A177-3AD203B41FA5}">
                          <a16:colId xmlns:a16="http://schemas.microsoft.com/office/drawing/2014/main" val="1625042956"/>
                        </a:ext>
                      </a:extLst>
                    </a:gridCol>
                    <a:gridCol w="973627">
                      <a:extLst>
                        <a:ext uri="{9D8B030D-6E8A-4147-A177-3AD203B41FA5}">
                          <a16:colId xmlns:a16="http://schemas.microsoft.com/office/drawing/2014/main" val="3279612758"/>
                        </a:ext>
                      </a:extLst>
                    </a:gridCol>
                    <a:gridCol w="1815293">
                      <a:extLst>
                        <a:ext uri="{9D8B030D-6E8A-4147-A177-3AD203B41FA5}">
                          <a16:colId xmlns:a16="http://schemas.microsoft.com/office/drawing/2014/main" val="3241480736"/>
                        </a:ext>
                      </a:extLst>
                    </a:gridCol>
                    <a:gridCol w="2128007">
                      <a:extLst>
                        <a:ext uri="{9D8B030D-6E8A-4147-A177-3AD203B41FA5}">
                          <a16:colId xmlns:a16="http://schemas.microsoft.com/office/drawing/2014/main" val="9261863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Aspek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Uji / Hasil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Efek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Kesimpulan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387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Performa Akhir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Welch’s t-test</a:t>
                          </a:r>
                        </a:p>
                        <a:p>
                          <a:pPr algn="ctr"/>
                          <a:r>
                            <a:rPr lang="en-US" sz="1200" i="1" dirty="0"/>
                            <a:t>69.6% vs 58.0%</a:t>
                          </a:r>
                          <a:endParaRPr lang="LID4096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&lt; 0.001</a:t>
                          </a:r>
                          <a:endParaRPr lang="LID4096" sz="120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 = 6.00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Unggul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Signifikan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79005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Efisiensi</a:t>
                          </a:r>
                          <a:r>
                            <a:rPr lang="en-US" sz="1200" dirty="0"/>
                            <a:t> Sampel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AUC 40k Ep.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23,400 vs 7,835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2.99x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3x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Cepat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9530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Kecepatan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Belajar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Episode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sz="1200" dirty="0"/>
                            <a:t> 50% WR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6k vs 65k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10x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Cepat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47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Tren </a:t>
                          </a:r>
                          <a:r>
                            <a:rPr lang="en-US" sz="1200" dirty="0" err="1"/>
                            <a:t>Pelatihan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Mann-Kendall</a:t>
                          </a:r>
                        </a:p>
                        <a:p>
                          <a:pPr algn="ctr"/>
                          <a:r>
                            <a:rPr lang="en-US" sz="1200" i="0" dirty="0"/>
                            <a:t>DQN Naik / CAE-DQN Turun</a:t>
                          </a:r>
                          <a:endParaRPr lang="LID4096" sz="12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i="1" dirty="0"/>
                            <a:t>&lt; 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D" sz="1200" dirty="0"/>
                            <a:t>slope: 0.0065 / –0.0059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DQN Naik</a:t>
                          </a:r>
                        </a:p>
                        <a:p>
                          <a:r>
                            <a:rPr lang="en-US" sz="1200" dirty="0"/>
                            <a:t>CAE-DQN </a:t>
                          </a:r>
                          <a:r>
                            <a:rPr lang="en-US" sz="1200" i="1" dirty="0"/>
                            <a:t>Collapse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0462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Segmen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Penurunan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Regresi Linier (50 – 80k)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=-0.000016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i="1" dirty="0"/>
                            <a:t>&lt; 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=0.78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Penurunan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Signifikan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0083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Stabilitas</a:t>
                          </a:r>
                          <a:r>
                            <a:rPr lang="en-US" sz="1200" dirty="0"/>
                            <a:t> Akhir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Std. Dev WR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0.0297 vs 0.1668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DQN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Stabil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41027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Adaptivitas </a:t>
                          </a:r>
                          <a:r>
                            <a:rPr lang="en-US" sz="1200" dirty="0" err="1"/>
                            <a:t>Eksplorasi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Bonus CAE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10 &gt; 0.5 (20k ep.)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Self-Annealing</a:t>
                          </a:r>
                          <a:endParaRPr lang="LID4096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81385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Kualitas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Eksplorasi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Progress/</a:t>
                          </a:r>
                          <a:r>
                            <a:rPr lang="en-US" sz="1200" dirty="0" err="1"/>
                            <a:t>Klik</a:t>
                          </a:r>
                          <a:endParaRPr lang="en-US" sz="1200" dirty="0"/>
                        </a:p>
                        <a:p>
                          <a:pPr algn="ctr"/>
                          <a:r>
                            <a:rPr lang="en-US" sz="1200" dirty="0"/>
                            <a:t>0.823 vs 0.734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1.12x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12%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Informatif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7289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A1B5778-9F74-DBC5-6B0E-D7D4E8AB6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123632"/>
                  </p:ext>
                </p:extLst>
              </p:nvPr>
            </p:nvGraphicFramePr>
            <p:xfrm>
              <a:off x="1166870" y="1827621"/>
              <a:ext cx="9858249" cy="402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9210">
                      <a:extLst>
                        <a:ext uri="{9D8B030D-6E8A-4147-A177-3AD203B41FA5}">
                          <a16:colId xmlns:a16="http://schemas.microsoft.com/office/drawing/2014/main" val="3460722941"/>
                        </a:ext>
                      </a:extLst>
                    </a:gridCol>
                    <a:gridCol w="3182112">
                      <a:extLst>
                        <a:ext uri="{9D8B030D-6E8A-4147-A177-3AD203B41FA5}">
                          <a16:colId xmlns:a16="http://schemas.microsoft.com/office/drawing/2014/main" val="1625042956"/>
                        </a:ext>
                      </a:extLst>
                    </a:gridCol>
                    <a:gridCol w="973627">
                      <a:extLst>
                        <a:ext uri="{9D8B030D-6E8A-4147-A177-3AD203B41FA5}">
                          <a16:colId xmlns:a16="http://schemas.microsoft.com/office/drawing/2014/main" val="3279612758"/>
                        </a:ext>
                      </a:extLst>
                    </a:gridCol>
                    <a:gridCol w="1815293">
                      <a:extLst>
                        <a:ext uri="{9D8B030D-6E8A-4147-A177-3AD203B41FA5}">
                          <a16:colId xmlns:a16="http://schemas.microsoft.com/office/drawing/2014/main" val="3241480736"/>
                        </a:ext>
                      </a:extLst>
                    </a:gridCol>
                    <a:gridCol w="2128007">
                      <a:extLst>
                        <a:ext uri="{9D8B030D-6E8A-4147-A177-3AD203B41FA5}">
                          <a16:colId xmlns:a16="http://schemas.microsoft.com/office/drawing/2014/main" val="9261863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Aspek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Uji / Hasil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Efek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Kesimpulan</a:t>
                          </a:r>
                          <a:endParaRPr lang="LID4096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3879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Performa Akhir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Welch’s t-test</a:t>
                          </a:r>
                        </a:p>
                        <a:p>
                          <a:pPr algn="ctr"/>
                          <a:r>
                            <a:rPr lang="en-US" sz="1200" i="1" dirty="0"/>
                            <a:t>69.6% vs 58.0%</a:t>
                          </a:r>
                          <a:endParaRPr lang="LID4096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&lt; 0.001</a:t>
                          </a:r>
                          <a:endParaRPr lang="LID4096" sz="120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d = 6.00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Unggul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Signifikan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79005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Efisiensi</a:t>
                          </a:r>
                          <a:r>
                            <a:rPr lang="en-US" sz="1200" dirty="0"/>
                            <a:t> Sampel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AUC 40k Ep.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23,400 vs 7,835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2.99x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3x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Cepat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95306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Kecepatan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Belajar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55556" t="-282667" r="-155364" b="-5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10x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Cepat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4478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Tren </a:t>
                          </a:r>
                          <a:r>
                            <a:rPr lang="en-US" sz="1200" dirty="0" err="1"/>
                            <a:t>Pelatihan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Mann-Kendall</a:t>
                          </a:r>
                        </a:p>
                        <a:p>
                          <a:pPr algn="ctr"/>
                          <a:r>
                            <a:rPr lang="en-US" sz="1200" i="0" dirty="0"/>
                            <a:t>DQN Naik / CAE-DQN Turun</a:t>
                          </a:r>
                          <a:endParaRPr lang="LID4096" sz="12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i="1" dirty="0"/>
                            <a:t>&lt; 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D" sz="1200" dirty="0"/>
                            <a:t>slope: 0.0065 / –0.0059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DQN Naik</a:t>
                          </a:r>
                        </a:p>
                        <a:p>
                          <a:r>
                            <a:rPr lang="en-US" sz="1200" dirty="0"/>
                            <a:t>CAE-DQN </a:t>
                          </a:r>
                          <a:r>
                            <a:rPr lang="en-US" sz="1200" i="1" dirty="0"/>
                            <a:t>Collapse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0462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Segmen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Penurunan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55556" t="-476316" r="-155364" b="-3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i="1" dirty="0"/>
                            <a:t>&lt; 0.001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26174" t="-476316" r="-118456" b="-3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Penurunan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Signifikan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0083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Stabilitas</a:t>
                          </a:r>
                          <a:r>
                            <a:rPr lang="en-US" sz="1200" dirty="0"/>
                            <a:t> Akhir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Std. Dev WR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0.0297 vs 0.1668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DQN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Stabil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41027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Adaptivitas </a:t>
                          </a:r>
                          <a:r>
                            <a:rPr lang="en-US" sz="1200" dirty="0" err="1"/>
                            <a:t>Eksplorasi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Bonus CAE</a:t>
                          </a:r>
                        </a:p>
                        <a:p>
                          <a:pPr algn="ctr"/>
                          <a:r>
                            <a:rPr lang="en-US" sz="1200" dirty="0"/>
                            <a:t>10 &gt; 0.5 (20k ep.)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1" dirty="0"/>
                            <a:t>Self-Annealing</a:t>
                          </a:r>
                          <a:endParaRPr lang="LID4096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813852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 err="1"/>
                            <a:t>Kualitas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Eksplorasi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Progress/</a:t>
                          </a:r>
                          <a:r>
                            <a:rPr lang="en-US" sz="1200" dirty="0" err="1"/>
                            <a:t>Klik</a:t>
                          </a:r>
                          <a:endParaRPr lang="en-US" sz="1200" dirty="0"/>
                        </a:p>
                        <a:p>
                          <a:pPr algn="ctr"/>
                          <a:r>
                            <a:rPr lang="en-US" sz="1200" dirty="0"/>
                            <a:t>0.823 vs 0.734</a:t>
                          </a:r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1.12x</a:t>
                          </a:r>
                          <a:endParaRPr lang="LID4096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12% </a:t>
                          </a:r>
                          <a:r>
                            <a:rPr lang="en-US" sz="1200" dirty="0" err="1"/>
                            <a:t>Lebih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Informatif</a:t>
                          </a:r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47289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948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2169-269F-F032-B47D-FC0302EF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60D1F2-D52E-8637-6E7B-F02AACB4B7D6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972BC7-431E-E298-3069-63D212F72EC4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EF0689-D505-98A2-226C-D23D03F03CB6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462D19-7FDB-9DDA-D37B-289AF0ADDD68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EKSPERIMEN &amp; ANALISIS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A7652-02E3-9042-1815-98AC38871FDA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Pembahasan</a:t>
            </a:r>
            <a:endParaRPr lang="en-US" sz="1200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299EE-0B51-0629-3079-31658DBFB9C9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40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BBE411C-4F58-CC06-4BB3-EF1AB986C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75B580-B13B-19A4-5DC0-B20BC5DAE9A7}"/>
              </a:ext>
            </a:extLst>
          </p:cNvPr>
          <p:cNvSpPr/>
          <p:nvPr/>
        </p:nvSpPr>
        <p:spPr>
          <a:xfrm>
            <a:off x="3339020" y="1491819"/>
            <a:ext cx="5513950" cy="44976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Performa &amp; </a:t>
            </a: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Sampel (RQ2)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mencapai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69.6%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vs DQN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58.0%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Belajar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jauh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lebih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cepat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dan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Self-Annealing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(RQ3)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menurun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alami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seiring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akumulasi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pengalaman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di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Gram matrix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Kualitas Eksplorasi (RQ4)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Progress per click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 12.1%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lebih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tinggi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cenderung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memilih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petak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yang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informatif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&gt;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mempercepat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pemecahan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CSP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Minesweeper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bg1"/>
                </a:solidFill>
              </a:rPr>
              <a:t>Menghindari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tebakan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acak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menjaga</a:t>
            </a:r>
            <a:r>
              <a:rPr lang="en-ID" sz="1200" dirty="0">
                <a:solidFill>
                  <a:schemeClr val="bg1"/>
                </a:solidFill>
              </a:rPr>
              <a:t> episode </a:t>
            </a:r>
            <a:r>
              <a:rPr lang="en-ID" sz="1200" dirty="0" err="1">
                <a:solidFill>
                  <a:schemeClr val="bg1"/>
                </a:solidFill>
              </a:rPr>
              <a:t>lebih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panjang</a:t>
            </a:r>
            <a:endParaRPr lang="en-ID" sz="1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Policy Collapse &amp; Recovery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(Tambahan)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yang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menyusut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tajam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menyebabkan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agent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terjebak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di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local minimum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residual (~0.5)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masih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mampu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mendiversifikasi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data di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replay buffer</a:t>
            </a:r>
          </a:p>
        </p:txBody>
      </p:sp>
    </p:spTree>
    <p:extLst>
      <p:ext uri="{BB962C8B-B14F-4D97-AF65-F5344CB8AC3E}">
        <p14:creationId xmlns:p14="http://schemas.microsoft.com/office/powerpoint/2010/main" val="2161098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87676-9FA9-EB78-1F9B-41312173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7F07FB-CBB6-1C27-CADE-F8607818EC11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2AE0-4A53-DF41-CBE8-C4350B58650D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34E775C-C203-6BB9-D89D-D4D3845FA041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A1CD3-C758-A6F9-E1D3-3C295E92EF50}"/>
              </a:ext>
            </a:extLst>
          </p:cNvPr>
          <p:cNvSpPr/>
          <p:nvPr/>
        </p:nvSpPr>
        <p:spPr>
          <a:xfrm>
            <a:off x="9991040" y="315636"/>
            <a:ext cx="21280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PENUTUP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C52CC-F933-9CB5-870C-FB09614811D6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Kesimpulan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F6ED1-F2AA-9251-7CC1-C322571AB2FD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41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E723C8A5-4214-11BF-27C1-A1C0F0693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420F8B-C584-5749-A367-A1D7F2F7728C}"/>
              </a:ext>
            </a:extLst>
          </p:cNvPr>
          <p:cNvSpPr/>
          <p:nvPr/>
        </p:nvSpPr>
        <p:spPr>
          <a:xfrm>
            <a:off x="778700" y="1650666"/>
            <a:ext cx="5513950" cy="44976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Validitas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Implementasi</a:t>
            </a:r>
            <a:endParaRPr lang="en-US" sz="1200" b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CAE-DQN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merealisasikan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berbasis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ketidakpastian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sesuai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formulasi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CAE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Efisiensi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Sampel &amp; Performa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Win rate: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69.6%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vs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58.0%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(p &lt; 0.001, d = 6.00)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50% win rate: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6,000 vs 65,000 episode (10x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lebih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cepat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AUC 40K: 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23,400 vs 7,835 (2.99x)</a:t>
            </a:r>
            <a:endParaRPr lang="en-US" sz="1200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Self-Annealing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menurun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alami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dari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~10 &gt; 0.5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dalam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20k episode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tanpa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adanya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penjadwalan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manual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Kualitas</a:t>
            </a:r>
            <a:r>
              <a:rPr lang="en-US" sz="12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Eksplorasi</a:t>
            </a:r>
            <a:endParaRPr lang="en-US" sz="1200" b="1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Progress per click </a:t>
            </a:r>
            <a:r>
              <a:rPr lang="en-US" sz="1200" b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12.1%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lebih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informatif</a:t>
            </a:r>
            <a:endParaRPr lang="en-US" sz="1200" i="1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2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Policy Collapse &amp; Recovery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yang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menyusut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menyebabkan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greedy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terjebak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pada </a:t>
            </a:r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local minimum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Bonus residual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mendorong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pemulihan</a:t>
            </a:r>
            <a:r>
              <a:rPr lang="en-US" sz="120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sz="1200" dirty="0" err="1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parsial</a:t>
            </a:r>
            <a:endParaRPr lang="en-US" sz="1200" dirty="0">
              <a:ln w="0"/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3B1697-565B-5775-896B-FFEB8F0B018A}"/>
              </a:ext>
            </a:extLst>
          </p:cNvPr>
          <p:cNvSpPr/>
          <p:nvPr/>
        </p:nvSpPr>
        <p:spPr>
          <a:xfrm>
            <a:off x="7123176" y="2900763"/>
            <a:ext cx="3493009" cy="143295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ln w="0"/>
                <a:cs typeface="Arial" panose="020B0604020202020204" pitchFamily="34" charset="0"/>
              </a:rPr>
              <a:t>CAE</a:t>
            </a:r>
            <a:r>
              <a:rPr lang="en-US" sz="2000" i="1" dirty="0">
                <a:ln w="0"/>
                <a:cs typeface="Arial" panose="020B0604020202020204" pitchFamily="34" charset="0"/>
              </a:rPr>
              <a:t> strategi yang </a:t>
            </a:r>
            <a:r>
              <a:rPr lang="en-US" sz="2000" i="1" dirty="0" err="1">
                <a:ln w="0"/>
                <a:cs typeface="Arial" panose="020B0604020202020204" pitchFamily="34" charset="0"/>
              </a:rPr>
              <a:t>efektif</a:t>
            </a:r>
            <a:r>
              <a:rPr lang="en-US" sz="2000" i="1" dirty="0">
                <a:ln w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n w="0"/>
                <a:cs typeface="Arial" panose="020B0604020202020204" pitchFamily="34" charset="0"/>
              </a:rPr>
              <a:t>untuk</a:t>
            </a:r>
            <a:r>
              <a:rPr lang="en-US" sz="2000" i="1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cs typeface="Arial" panose="020B0604020202020204" pitchFamily="34" charset="0"/>
              </a:rPr>
              <a:t>POMDP</a:t>
            </a:r>
            <a:r>
              <a:rPr lang="en-US" sz="2000" i="1" dirty="0">
                <a:ln w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n w="0"/>
                <a:cs typeface="Arial" panose="020B0604020202020204" pitchFamily="34" charset="0"/>
              </a:rPr>
              <a:t>dengan</a:t>
            </a:r>
            <a:r>
              <a:rPr lang="en-US" sz="2000" i="1" dirty="0">
                <a:ln w="0"/>
                <a:cs typeface="Arial" panose="020B0604020202020204" pitchFamily="34" charset="0"/>
              </a:rPr>
              <a:t> </a:t>
            </a:r>
            <a:r>
              <a:rPr lang="en-US" sz="2000" b="1" i="1" dirty="0">
                <a:ln w="0"/>
                <a:cs typeface="Arial" panose="020B0604020202020204" pitchFamily="34" charset="0"/>
              </a:rPr>
              <a:t>reward </a:t>
            </a:r>
            <a:r>
              <a:rPr lang="en-US" sz="2000" b="1" i="1" dirty="0" err="1">
                <a:ln w="0"/>
                <a:cs typeface="Arial" panose="020B0604020202020204" pitchFamily="34" charset="0"/>
              </a:rPr>
              <a:t>jarang</a:t>
            </a:r>
            <a:r>
              <a:rPr lang="en-US" sz="2000" b="1" i="1" dirty="0">
                <a:ln w="0"/>
                <a:cs typeface="Arial" panose="020B0604020202020204" pitchFamily="34" charset="0"/>
              </a:rPr>
              <a:t> </a:t>
            </a:r>
            <a:r>
              <a:rPr lang="en-US" sz="2000" i="1" dirty="0">
                <a:ln w="0"/>
                <a:cs typeface="Arial" panose="020B0604020202020204" pitchFamily="34" charset="0"/>
              </a:rPr>
              <a:t>dan </a:t>
            </a:r>
            <a:r>
              <a:rPr lang="en-US" sz="2000" b="1" i="1" dirty="0" err="1">
                <a:ln w="0"/>
                <a:cs typeface="Arial" panose="020B0604020202020204" pitchFamily="34" charset="0"/>
              </a:rPr>
              <a:t>penalti</a:t>
            </a:r>
            <a:r>
              <a:rPr lang="en-US" sz="2000" b="1" i="1" dirty="0">
                <a:ln w="0"/>
                <a:cs typeface="Arial" panose="020B0604020202020204" pitchFamily="34" charset="0"/>
              </a:rPr>
              <a:t> fatal</a:t>
            </a:r>
          </a:p>
        </p:txBody>
      </p:sp>
    </p:spTree>
    <p:extLst>
      <p:ext uri="{BB962C8B-B14F-4D97-AF65-F5344CB8AC3E}">
        <p14:creationId xmlns:p14="http://schemas.microsoft.com/office/powerpoint/2010/main" val="366988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6282-6A5F-B5FB-B430-26AB6A28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CCF43D-738E-B614-262F-3563D4872383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3E1618-9C15-6563-6593-D992AB469FB9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6C04001-7F37-E106-2FF6-B50C9FD13DF9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5A66F-246B-A53A-320C-82A348DE8D5C}"/>
              </a:ext>
            </a:extLst>
          </p:cNvPr>
          <p:cNvSpPr/>
          <p:nvPr/>
        </p:nvSpPr>
        <p:spPr>
          <a:xfrm>
            <a:off x="9991040" y="315636"/>
            <a:ext cx="21280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PENUTUP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F4568-5B67-90BF-36B3-E87DCF9B34E3}"/>
              </a:ext>
            </a:extLst>
          </p:cNvPr>
          <p:cNvSpPr/>
          <p:nvPr/>
        </p:nvSpPr>
        <p:spPr>
          <a:xfrm>
            <a:off x="10224654" y="1135177"/>
            <a:ext cx="167910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Saran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61A3DA-3BC7-1F94-C736-89470C0D330D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42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15C42B4D-A1EB-6306-6567-50E20A191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F21D4F-25D2-54E0-1762-134E04D7BBDA}"/>
              </a:ext>
            </a:extLst>
          </p:cNvPr>
          <p:cNvSpPr/>
          <p:nvPr/>
        </p:nvSpPr>
        <p:spPr>
          <a:xfrm>
            <a:off x="2535137" y="1745179"/>
            <a:ext cx="7121716" cy="39392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400" b="1" dirty="0">
                <a:solidFill>
                  <a:schemeClr val="bg1"/>
                </a:solidFill>
              </a:rPr>
              <a:t>Papan </a:t>
            </a:r>
            <a:r>
              <a:rPr lang="en-ID" sz="1400" b="1" dirty="0" err="1">
                <a:solidFill>
                  <a:schemeClr val="bg1"/>
                </a:solidFill>
              </a:rPr>
              <a:t>Lebih</a:t>
            </a:r>
            <a:r>
              <a:rPr lang="en-ID" sz="1400" b="1" dirty="0">
                <a:solidFill>
                  <a:schemeClr val="bg1"/>
                </a:solidFill>
              </a:rPr>
              <a:t> </a:t>
            </a:r>
            <a:r>
              <a:rPr lang="en-ID" sz="1400" b="1" dirty="0" err="1">
                <a:solidFill>
                  <a:schemeClr val="bg1"/>
                </a:solidFill>
              </a:rPr>
              <a:t>Kompleks</a:t>
            </a:r>
            <a:endParaRPr lang="en-ID" sz="1400" b="1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>
                <a:solidFill>
                  <a:schemeClr val="bg1"/>
                </a:solidFill>
              </a:rPr>
              <a:t>Uji CAE‑DQN pada 9×9 (10 </a:t>
            </a:r>
            <a:r>
              <a:rPr lang="en-ID" sz="1400" dirty="0" err="1">
                <a:solidFill>
                  <a:schemeClr val="bg1"/>
                </a:solidFill>
              </a:rPr>
              <a:t>ranjau</a:t>
            </a:r>
            <a:r>
              <a:rPr lang="en-ID" sz="1400" dirty="0">
                <a:solidFill>
                  <a:schemeClr val="bg1"/>
                </a:solidFill>
              </a:rPr>
              <a:t>) </a:t>
            </a:r>
            <a:r>
              <a:rPr lang="en-ID" sz="1400" dirty="0" err="1">
                <a:solidFill>
                  <a:schemeClr val="bg1"/>
                </a:solidFill>
              </a:rPr>
              <a:t>atau</a:t>
            </a:r>
            <a:r>
              <a:rPr lang="en-ID" sz="1400" dirty="0">
                <a:solidFill>
                  <a:schemeClr val="bg1"/>
                </a:solidFill>
              </a:rPr>
              <a:t> 16×16 (40 </a:t>
            </a:r>
            <a:r>
              <a:rPr lang="en-ID" sz="1400" dirty="0" err="1">
                <a:solidFill>
                  <a:schemeClr val="bg1"/>
                </a:solidFill>
              </a:rPr>
              <a:t>ranjau</a:t>
            </a:r>
            <a:r>
              <a:rPr lang="en-ID" sz="1400" dirty="0">
                <a:solidFill>
                  <a:schemeClr val="bg1"/>
                </a:solidFill>
              </a:rPr>
              <a:t>) </a:t>
            </a:r>
            <a:r>
              <a:rPr lang="en-ID" sz="1400" dirty="0" err="1">
                <a:solidFill>
                  <a:schemeClr val="bg1"/>
                </a:solidFill>
              </a:rPr>
              <a:t>untuk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menguji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skalabilitas</a:t>
            </a:r>
            <a:r>
              <a:rPr lang="en-ID" sz="1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400" b="1" dirty="0">
                <a:solidFill>
                  <a:schemeClr val="bg1"/>
                </a:solidFill>
              </a:rPr>
              <a:t>CAE+ </a:t>
            </a:r>
            <a:r>
              <a:rPr lang="en-ID" sz="1400" b="1" dirty="0" err="1">
                <a:solidFill>
                  <a:schemeClr val="bg1"/>
                </a:solidFill>
              </a:rPr>
              <a:t>untuk</a:t>
            </a:r>
            <a:r>
              <a:rPr lang="en-ID" sz="1400" b="1" dirty="0">
                <a:solidFill>
                  <a:schemeClr val="bg1"/>
                </a:solidFill>
              </a:rPr>
              <a:t> </a:t>
            </a:r>
            <a:r>
              <a:rPr lang="en-ID" sz="1400" b="1" i="1" dirty="0">
                <a:solidFill>
                  <a:schemeClr val="bg1"/>
                </a:solidFill>
              </a:rPr>
              <a:t>Reward</a:t>
            </a:r>
            <a:r>
              <a:rPr lang="en-ID" sz="1400" b="1" dirty="0">
                <a:solidFill>
                  <a:schemeClr val="bg1"/>
                </a:solidFill>
              </a:rPr>
              <a:t> Sangat Jarang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 err="1">
                <a:solidFill>
                  <a:schemeClr val="bg1"/>
                </a:solidFill>
              </a:rPr>
              <a:t>Tambahkan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jaringan</a:t>
            </a:r>
            <a:r>
              <a:rPr lang="en-ID" sz="1400" dirty="0">
                <a:solidFill>
                  <a:schemeClr val="bg1"/>
                </a:solidFill>
              </a:rPr>
              <a:t> </a:t>
            </a:r>
            <a:r>
              <a:rPr lang="en-ID" sz="1400" i="1" dirty="0">
                <a:solidFill>
                  <a:schemeClr val="bg1"/>
                </a:solidFill>
              </a:rPr>
              <a:t>Inverse Dynamics</a:t>
            </a:r>
            <a:r>
              <a:rPr lang="en-ID" sz="1400" dirty="0">
                <a:solidFill>
                  <a:schemeClr val="bg1"/>
                </a:solidFill>
              </a:rPr>
              <a:t> </a:t>
            </a:r>
            <a:r>
              <a:rPr lang="en-ID" sz="1400" dirty="0" err="1">
                <a:solidFill>
                  <a:schemeClr val="bg1"/>
                </a:solidFill>
              </a:rPr>
              <a:t>untuk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mempercepat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pembelajaran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representasi</a:t>
            </a:r>
            <a:r>
              <a:rPr lang="en-ID" sz="1400" dirty="0">
                <a:solidFill>
                  <a:schemeClr val="bg1"/>
                </a:solidFill>
              </a:rPr>
              <a:t> laten pada </a:t>
            </a:r>
            <a:r>
              <a:rPr lang="en-ID" sz="1400" i="1" dirty="0">
                <a:solidFill>
                  <a:schemeClr val="bg1"/>
                </a:solidFill>
              </a:rPr>
              <a:t>environment</a:t>
            </a:r>
            <a:r>
              <a:rPr lang="en-ID" sz="1400" dirty="0">
                <a:solidFill>
                  <a:schemeClr val="bg1"/>
                </a:solidFill>
              </a:rPr>
              <a:t> yang </a:t>
            </a:r>
            <a:r>
              <a:rPr lang="en-ID" sz="1400" dirty="0" err="1">
                <a:solidFill>
                  <a:schemeClr val="bg1"/>
                </a:solidFill>
              </a:rPr>
              <a:t>lebih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sulit</a:t>
            </a:r>
            <a:r>
              <a:rPr lang="en-ID" sz="1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400" b="1" dirty="0">
                <a:solidFill>
                  <a:schemeClr val="bg1"/>
                </a:solidFill>
              </a:rPr>
              <a:t>Domain Logika Diskret </a:t>
            </a:r>
            <a:r>
              <a:rPr lang="en-ID" sz="1400" b="1" dirty="0" err="1">
                <a:solidFill>
                  <a:schemeClr val="bg1"/>
                </a:solidFill>
              </a:rPr>
              <a:t>Lainnya</a:t>
            </a:r>
            <a:endParaRPr lang="en-ID" sz="1400" b="1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 err="1">
                <a:solidFill>
                  <a:schemeClr val="bg1"/>
                </a:solidFill>
              </a:rPr>
              <a:t>Terapkan</a:t>
            </a:r>
            <a:r>
              <a:rPr lang="en-ID" sz="1400" dirty="0">
                <a:solidFill>
                  <a:schemeClr val="bg1"/>
                </a:solidFill>
              </a:rPr>
              <a:t> CAE‑DQN pada </a:t>
            </a:r>
            <a:r>
              <a:rPr lang="en-ID" sz="1400" i="1" dirty="0">
                <a:solidFill>
                  <a:schemeClr val="bg1"/>
                </a:solidFill>
              </a:rPr>
              <a:t>Battleship</a:t>
            </a:r>
            <a:r>
              <a:rPr lang="en-ID" sz="1400" dirty="0">
                <a:solidFill>
                  <a:schemeClr val="bg1"/>
                </a:solidFill>
              </a:rPr>
              <a:t>, </a:t>
            </a:r>
            <a:r>
              <a:rPr lang="en-ID" sz="1400" i="1" dirty="0">
                <a:solidFill>
                  <a:schemeClr val="bg1"/>
                </a:solidFill>
              </a:rPr>
              <a:t>Mastermind</a:t>
            </a:r>
            <a:r>
              <a:rPr lang="en-ID" sz="1400" dirty="0">
                <a:solidFill>
                  <a:schemeClr val="bg1"/>
                </a:solidFill>
              </a:rPr>
              <a:t>, </a:t>
            </a:r>
            <a:r>
              <a:rPr lang="en-ID" sz="1400" dirty="0" err="1">
                <a:solidFill>
                  <a:schemeClr val="bg1"/>
                </a:solidFill>
              </a:rPr>
              <a:t>atau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nonogram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untuk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menguji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generalitas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temuan</a:t>
            </a:r>
            <a:r>
              <a:rPr lang="en-ID" sz="1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400" b="1" dirty="0">
                <a:solidFill>
                  <a:schemeClr val="bg1"/>
                </a:solidFill>
              </a:rPr>
              <a:t>Studi </a:t>
            </a:r>
            <a:r>
              <a:rPr lang="en-ID" sz="1400" b="1" dirty="0" err="1">
                <a:solidFill>
                  <a:schemeClr val="bg1"/>
                </a:solidFill>
              </a:rPr>
              <a:t>Ablasi</a:t>
            </a:r>
            <a:r>
              <a:rPr lang="en-ID" sz="1400" b="1" dirty="0">
                <a:solidFill>
                  <a:schemeClr val="bg1"/>
                </a:solidFill>
              </a:rPr>
              <a:t> </a:t>
            </a:r>
            <a:r>
              <a:rPr lang="en-ID" sz="1400" b="1" dirty="0" err="1">
                <a:solidFill>
                  <a:schemeClr val="bg1"/>
                </a:solidFill>
              </a:rPr>
              <a:t>Normalisasi</a:t>
            </a:r>
            <a:r>
              <a:rPr lang="en-ID" sz="1400" b="1" dirty="0">
                <a:solidFill>
                  <a:schemeClr val="bg1"/>
                </a:solidFill>
              </a:rPr>
              <a:t> Welford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dirty="0" err="1">
                <a:solidFill>
                  <a:schemeClr val="bg1"/>
                </a:solidFill>
              </a:rPr>
              <a:t>Evaluasi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dampak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normalisasi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i="1" dirty="0">
                <a:solidFill>
                  <a:schemeClr val="bg1"/>
                </a:solidFill>
              </a:rPr>
              <a:t>Welford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terhadap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stabilitas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pelatihan</a:t>
            </a:r>
            <a:r>
              <a:rPr lang="en-ID" sz="1400" dirty="0">
                <a:solidFill>
                  <a:schemeClr val="bg1"/>
                </a:solidFill>
              </a:rPr>
              <a:t> CAE pada </a:t>
            </a:r>
            <a:r>
              <a:rPr lang="en-ID" sz="1400" i="1" dirty="0">
                <a:solidFill>
                  <a:schemeClr val="bg1"/>
                </a:solidFill>
              </a:rPr>
              <a:t>Minesweeper</a:t>
            </a:r>
            <a:r>
              <a:rPr lang="en-ID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726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FFEE-BC7D-ABDF-1A9C-498AE595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457B7C-7711-BC53-0639-BA53CE624E98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0DDD6B-7B6E-F534-C733-85A0C19C21DA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A91C5CD-42D1-CDFE-45EC-485566F70E6A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A629F1F5-6C10-082B-F2E0-983BCCD70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7B4B94-17BA-50E7-DF43-D6D766D3E232}"/>
              </a:ext>
            </a:extLst>
          </p:cNvPr>
          <p:cNvSpPr/>
          <p:nvPr/>
        </p:nvSpPr>
        <p:spPr>
          <a:xfrm>
            <a:off x="4317580" y="1932564"/>
            <a:ext cx="3556829" cy="2992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i="1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THANK YOU!</a:t>
            </a:r>
          </a:p>
        </p:txBody>
      </p:sp>
      <p:pic>
        <p:nvPicPr>
          <p:cNvPr id="1030" name="Picture 6" descr="Do you think Patrick is ACTUALLY a GENIUS? : r/spongebob">
            <a:extLst>
              <a:ext uri="{FF2B5EF4-FFF2-40B4-BE49-F238E27FC236}">
                <a16:creationId xmlns:a16="http://schemas.microsoft.com/office/drawing/2014/main" id="{ED36FE41-2DD0-F1E0-6566-23E7A2DFB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488" y="213519"/>
            <a:ext cx="1033273" cy="72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871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48D39-82D5-5915-EC21-A8805091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3F20F1-71EB-E2E4-83B3-93639B81E1B6}"/>
              </a:ext>
            </a:extLst>
          </p:cNvPr>
          <p:cNvSpPr/>
          <p:nvPr/>
        </p:nvSpPr>
        <p:spPr>
          <a:xfrm>
            <a:off x="-4" y="6742708"/>
            <a:ext cx="12192000" cy="1152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C1D2B-C7BF-F509-9739-17E315621B63}"/>
              </a:ext>
            </a:extLst>
          </p:cNvPr>
          <p:cNvCxnSpPr>
            <a:cxnSpLocks/>
          </p:cNvCxnSpPr>
          <p:nvPr/>
        </p:nvCxnSpPr>
        <p:spPr>
          <a:xfrm>
            <a:off x="288230" y="1056266"/>
            <a:ext cx="11615531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8C7757D-FFCB-D975-2142-20E1808AC833}"/>
              </a:ext>
            </a:extLst>
          </p:cNvPr>
          <p:cNvSpPr/>
          <p:nvPr/>
        </p:nvSpPr>
        <p:spPr>
          <a:xfrm>
            <a:off x="12046187" y="213518"/>
            <a:ext cx="145813" cy="727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b="1" dirty="0">
              <a:solidFill>
                <a:schemeClr val="tx1"/>
              </a:solidFill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C2EB77-E440-C3E8-C81C-99E37CC8C6A1}"/>
              </a:ext>
            </a:extLst>
          </p:cNvPr>
          <p:cNvSpPr/>
          <p:nvPr/>
        </p:nvSpPr>
        <p:spPr>
          <a:xfrm>
            <a:off x="7123176" y="315636"/>
            <a:ext cx="499591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REFERENSI UTAMA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6C6C26-884F-D521-C0C0-2FE37AB13772}"/>
              </a:ext>
            </a:extLst>
          </p:cNvPr>
          <p:cNvSpPr/>
          <p:nvPr/>
        </p:nvSpPr>
        <p:spPr>
          <a:xfrm>
            <a:off x="-4" y="6373375"/>
            <a:ext cx="53008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bg1"/>
                </a:solidFill>
                <a:cs typeface="Arial" panose="020B0604020202020204" pitchFamily="34" charset="0"/>
              </a:rPr>
              <a:t>44</a:t>
            </a:r>
          </a:p>
        </p:txBody>
      </p:sp>
      <p:pic>
        <p:nvPicPr>
          <p:cNvPr id="10" name="Picture 12" descr="ee.ui.ac.id – Departemen Teknik Elektro Fakultas Teknik ...">
            <a:extLst>
              <a:ext uri="{FF2B5EF4-FFF2-40B4-BE49-F238E27FC236}">
                <a16:creationId xmlns:a16="http://schemas.microsoft.com/office/drawing/2014/main" id="{28CA9452-F172-3A06-1C56-52BC663FA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8054" cy="9580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20A2AD-A9D6-355A-4AB2-D134202766A9}"/>
              </a:ext>
            </a:extLst>
          </p:cNvPr>
          <p:cNvSpPr txBox="1"/>
          <p:nvPr/>
        </p:nvSpPr>
        <p:spPr>
          <a:xfrm>
            <a:off x="1214242" y="1710180"/>
            <a:ext cx="9763506" cy="416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[1] Y. Li et al., “CAE: Repurposing the critic as an explorer in deep reinforcement learning,” </a:t>
            </a:r>
            <a:r>
              <a:rPr lang="en-US" sz="1600" b="1" dirty="0" err="1">
                <a:solidFill>
                  <a:schemeClr val="bg1"/>
                </a:solidFill>
              </a:rPr>
              <a:t>arXiv</a:t>
            </a:r>
            <a:r>
              <a:rPr lang="en-US" sz="1600" b="1" dirty="0">
                <a:solidFill>
                  <a:schemeClr val="bg1"/>
                </a:solidFill>
              </a:rPr>
              <a:t> preprint arXiv:2503.18980, 2025, also presented at relevant conference.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D" sz="1600" b="1" dirty="0">
                <a:solidFill>
                  <a:schemeClr val="bg1"/>
                </a:solidFill>
              </a:rPr>
              <a:t>[2] V. </a:t>
            </a:r>
            <a:r>
              <a:rPr lang="en-ID" sz="1600" b="1" dirty="0" err="1">
                <a:solidFill>
                  <a:schemeClr val="bg1"/>
                </a:solidFill>
              </a:rPr>
              <a:t>Mnih</a:t>
            </a:r>
            <a:r>
              <a:rPr lang="en-ID" sz="1600" b="1" dirty="0">
                <a:solidFill>
                  <a:schemeClr val="bg1"/>
                </a:solidFill>
              </a:rPr>
              <a:t>, K. </a:t>
            </a:r>
            <a:r>
              <a:rPr lang="en-ID" sz="1600" b="1" dirty="0" err="1">
                <a:solidFill>
                  <a:schemeClr val="bg1"/>
                </a:solidFill>
              </a:rPr>
              <a:t>Kavukcuoglu</a:t>
            </a:r>
            <a:r>
              <a:rPr lang="en-ID" sz="1600" b="1" dirty="0">
                <a:solidFill>
                  <a:schemeClr val="bg1"/>
                </a:solidFill>
              </a:rPr>
              <a:t>, D. Silver, A. A. Rusu, J. Veness, M. G. Bellemare, A. Graves, M. Riedmiller, A. K. Fidjeland, G. Ostrovski et al., “Human-level control through deep reinforcement learning,” Nature, vol. 518, no. 7540, pp. 529–533, 2015. </a:t>
            </a:r>
          </a:p>
          <a:p>
            <a:pPr>
              <a:lnSpc>
                <a:spcPct val="150000"/>
              </a:lnSpc>
            </a:pPr>
            <a:endParaRPr lang="en-ID" sz="1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[9] W. Wang and C. Lei, “Training a minesweeper agent with deep q-network and supervised learning,” Applied Sciences, vol. 15, no. 3, p. 745, 2025.</a:t>
            </a:r>
          </a:p>
          <a:p>
            <a:pPr>
              <a:lnSpc>
                <a:spcPct val="150000"/>
              </a:lnSpc>
            </a:pPr>
            <a:endParaRPr lang="en-ID" sz="1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[7] R. S. Sutton and A. G. Barto, Reinforcement learning: An introduction, 2nd ed. MIT press, 2018. </a:t>
            </a:r>
            <a:endParaRPr lang="LID4096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85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3532</Words>
  <Application>Microsoft Office PowerPoint</Application>
  <PresentationFormat>Widescreen</PresentationFormat>
  <Paragraphs>866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Dwi Miryano</dc:creator>
  <cp:lastModifiedBy>Yoel Dwi Miryano</cp:lastModifiedBy>
  <cp:revision>56</cp:revision>
  <dcterms:created xsi:type="dcterms:W3CDTF">2026-04-23T08:27:40Z</dcterms:created>
  <dcterms:modified xsi:type="dcterms:W3CDTF">2026-04-27T11:00:29Z</dcterms:modified>
</cp:coreProperties>
</file>